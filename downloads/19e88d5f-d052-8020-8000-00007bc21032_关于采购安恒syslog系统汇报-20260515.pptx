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85" r:id="rId2"/>
    <p:sldId id="2986" r:id="rId3"/>
    <p:sldId id="2987" r:id="rId4"/>
    <p:sldId id="2989" r:id="rId5"/>
    <p:sldId id="2994" r:id="rId6"/>
    <p:sldId id="2995" r:id="rId7"/>
    <p:sldId id="2998" r:id="rId8"/>
    <p:sldId id="3000" r:id="rId9"/>
    <p:sldId id="2999" r:id="rId10"/>
    <p:sldId id="2988" r:id="rId11"/>
    <p:sldId id="2992" r:id="rId12"/>
    <p:sldId id="2990" r:id="rId13"/>
    <p:sldId id="2993" r:id="rId14"/>
    <p:sldId id="2996" r:id="rId15"/>
    <p:sldId id="2991" r:id="rId16"/>
  </p:sldIdLst>
  <p:sldSz cx="9144000" cy="5143500" type="screen16x9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5pPr>
    <a:lvl6pPr marL="2286000" algn="l" defTabSz="914400" rtl="0" eaLnBrk="1" latinLnBrk="0" hangingPunct="1"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6pPr>
    <a:lvl7pPr marL="2743200" algn="l" defTabSz="914400" rtl="0" eaLnBrk="1" latinLnBrk="0" hangingPunct="1"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7pPr>
    <a:lvl8pPr marL="3200400" algn="l" defTabSz="914400" rtl="0" eaLnBrk="1" latinLnBrk="0" hangingPunct="1"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8pPr>
    <a:lvl9pPr marL="3657600" algn="l" defTabSz="914400" rtl="0" eaLnBrk="1" latinLnBrk="0" hangingPunct="1">
      <a:defRPr sz="1400" b="1" kern="1200">
        <a:solidFill>
          <a:srgbClr val="0000CC"/>
        </a:solidFill>
        <a:latin typeface="Arial" panose="020B0604020202020204" pitchFamily="34" charset="0"/>
        <a:ea typeface="MS PGothic" panose="020B0600070205080204" pitchFamily="50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ECFEAD3-A62D-4109-8DAD-340FD26A13C7}">
          <p14:sldIdLst>
            <p14:sldId id="2985"/>
            <p14:sldId id="2986"/>
            <p14:sldId id="2987"/>
            <p14:sldId id="2989"/>
            <p14:sldId id="2994"/>
            <p14:sldId id="2995"/>
            <p14:sldId id="2998"/>
            <p14:sldId id="3000"/>
            <p14:sldId id="2999"/>
            <p14:sldId id="2988"/>
            <p14:sldId id="2992"/>
            <p14:sldId id="2990"/>
            <p14:sldId id="2993"/>
            <p14:sldId id="2996"/>
            <p14:sldId id="2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KOTA, Koji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8E9"/>
    <a:srgbClr val="1B3A5C"/>
    <a:srgbClr val="A71E41"/>
    <a:srgbClr val="66CCFF"/>
    <a:srgbClr val="333333"/>
    <a:srgbClr val="189EE5"/>
    <a:srgbClr val="99CCFF"/>
    <a:srgbClr val="4D4D4D"/>
    <a:srgbClr val="292929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85770" autoAdjust="0"/>
  </p:normalViewPr>
  <p:slideViewPr>
    <p:cSldViewPr snapToObjects="1">
      <p:cViewPr varScale="1">
        <p:scale>
          <a:sx n="106" d="100"/>
          <a:sy n="106" d="100"/>
        </p:scale>
        <p:origin x="704" y="52"/>
      </p:cViewPr>
      <p:guideLst>
        <p:guide orient="horz" pos="162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60" d="100"/>
          <a:sy n="60" d="100"/>
        </p:scale>
        <p:origin x="328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t" anchorCtr="0" compatLnSpc="1"/>
          <a:lstStyle>
            <a:lvl1pPr algn="l" defTabSz="914400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50" charset="-128"/>
              </a:defRPr>
            </a:lvl1pPr>
          </a:lstStyle>
          <a:p>
            <a:pPr>
              <a:defRPr/>
            </a:pPr>
            <a:r>
              <a:rPr lang="en-US" altLang="ja-JP" dirty="0" err="1">
                <a:latin typeface="微软雅黑" panose="020B0503020204020204" pitchFamily="34" charset="-122"/>
              </a:rPr>
              <a:t>Rorze</a:t>
            </a:r>
            <a:r>
              <a:rPr lang="en-US" altLang="ja-JP" dirty="0">
                <a:latin typeface="微软雅黑" panose="020B0503020204020204" pitchFamily="34" charset="-122"/>
              </a:rPr>
              <a:t> Corporation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t" anchorCtr="0" compatLnSpc="1"/>
          <a:lstStyle>
            <a:lvl1pPr algn="r" defTabSz="913130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ja-JP" dirty="0">
              <a:latin typeface="微软雅黑" panose="020B0503020204020204" pitchFamily="34" charset="-122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b" anchorCtr="0" compatLnSpc="1"/>
          <a:lstStyle>
            <a:lvl1pPr algn="l" defTabSz="914400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50" charset="-128"/>
              </a:defRPr>
            </a:lvl1pPr>
          </a:lstStyle>
          <a:p>
            <a:pPr>
              <a:defRPr/>
            </a:pPr>
            <a:r>
              <a:rPr lang="en-US" altLang="ja-JP" dirty="0">
                <a:latin typeface="微软雅黑" panose="020B0503020204020204" pitchFamily="34" charset="-122"/>
              </a:rPr>
              <a:t>RORZE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b" anchorCtr="0" compatLnSpc="1"/>
          <a:lstStyle>
            <a:lvl1pPr algn="r" defTabSz="913130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016E8790-CD49-42D1-9618-5FDDDEE79500}" type="slidenum">
              <a:rPr lang="en-US" altLang="ja-JP">
                <a:latin typeface="微软雅黑" panose="020B0503020204020204" pitchFamily="34" charset="-122"/>
              </a:rPr>
              <a:t>‹#›</a:t>
            </a:fld>
            <a:endParaRPr lang="en-US" altLang="ja-JP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t" anchorCtr="0" compatLnSpc="1"/>
          <a:lstStyle>
            <a:lvl1pPr algn="l" defTabSz="914400" eaLnBrk="1" hangingPunct="1">
              <a:defRPr kumimoji="1" sz="1200" b="0"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50" charset="-128"/>
              </a:defRPr>
            </a:lvl1pPr>
          </a:lstStyle>
          <a:p>
            <a:pPr>
              <a:defRPr/>
            </a:pPr>
            <a:r>
              <a:rPr lang="en-US" altLang="ja-JP" dirty="0" err="1"/>
              <a:t>Rorze</a:t>
            </a:r>
            <a:r>
              <a:rPr lang="en-US" altLang="ja-JP" dirty="0"/>
              <a:t> Corporation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t" anchorCtr="0" compatLnSpc="1"/>
          <a:lstStyle>
            <a:lvl1pPr algn="r" defTabSz="913130" eaLnBrk="1" hangingPunct="1">
              <a:defRPr kumimoji="1" sz="1200" b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endParaRPr lang="en-US" altLang="ja-JP" dirty="0"/>
          </a:p>
        </p:txBody>
      </p:sp>
      <p:sp>
        <p:nvSpPr>
          <p:cNvPr id="1136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9950" y="739775"/>
            <a:ext cx="65774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t" anchorCtr="0" compatLnSpc="1"/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b" anchorCtr="0" compatLnSpc="1"/>
          <a:lstStyle>
            <a:lvl1pPr algn="l" defTabSz="914400" eaLnBrk="1" hangingPunct="1">
              <a:defRPr kumimoji="1" sz="1200" b="0"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50" charset="-128"/>
              </a:defRPr>
            </a:lvl1pPr>
          </a:lstStyle>
          <a:p>
            <a:pPr>
              <a:defRPr/>
            </a:pPr>
            <a:r>
              <a:rPr lang="en-US" altLang="ja-JP" dirty="0"/>
              <a:t>RORZE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393" tIns="45696" rIns="91393" bIns="45696" numCol="1" anchor="b" anchorCtr="0" compatLnSpc="1"/>
          <a:lstStyle>
            <a:lvl1pPr algn="r" defTabSz="913130" eaLnBrk="1" hangingPunct="1">
              <a:defRPr kumimoji="1" sz="1200" b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fld id="{AA530C60-EB13-4BAB-9652-4FA17DCFD079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微软雅黑" panose="020B0503020204020204" pitchFamily="34" charset="-122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微软雅黑" panose="020B0503020204020204" pitchFamily="34" charset="-122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微软雅黑" panose="020B0503020204020204" pitchFamily="34" charset="-122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微软雅黑" panose="020B0503020204020204" pitchFamily="34" charset="-122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微软雅黑" panose="020B0503020204020204" pitchFamily="34" charset="-122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核心目的只有一个：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申请采购安恒明御综合日志审计平台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，一次性解决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27001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外审和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总部审计的双重合规压力。我们目前在这两块都存在硬性差距，时间也比较紧，所以专门做了这次汇报。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9610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先看现状。我们现在的日志分散在防火墙、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AD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、服务器、虚拟机各处，没有统一采集；日志存在本地，管理员可以手动改、手动删；也没有定期审阅的流程，全靠出了问题再人工去查。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27001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的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A.8.15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和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A.8.16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明确要求日志必须集中、防篡改、定期审阅，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我们现在五条都不满足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总部审计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1-16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到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1-18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也要求管理员操作、访问日志、网络设备日志至少保留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365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天，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目前也不满足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6244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“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这一页是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27001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的具体差距对照。我重点说两个：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第一，日志完整性保护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。现在日志存在每台设备本地，系统管理员既能改配置又能删日志，权限没有分离， 审计老师来了我们没法自证清白。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第二，定期审阅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。我们现在没有定期审阅流程，出了问题才临时去查，这不符合体系要求。而且我们的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27001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证书是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客户验厂时明确要求具备的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，如果年度监督审核因为日志问题被开不符合项，证书维持不住，会直接影响客户验厂结果和后续订单。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2017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审计的要求，我用人话翻译一下：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第一，谁用了管理员账户、什么时候登录的、做了什么操作，必须统一记录并且能告警；第二，业务系统、网络设备的访问日志和操作日志，至少保留一年。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 我们现在日志分散，保留周期也不够一年，管理员半夜登录系统没有任何告警。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审计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10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月或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月就要来，如果这块被扣分，会影响集团年度内控评分。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420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我们对全公司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IT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资产做了全面梳理，目前需要接入日志审计平台的设备一共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170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台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，包括虚拟机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OS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、物理服务器、网络设备、数据库等四大类。考虑到未来一年还会新增设备，我们按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200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个日志源授权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 来采购，预留了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15%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扩容余量。另外，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这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170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台设备不需要额外买硬件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，全部通过现有网络接入平台，部署在虚拟机上。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8558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“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目前我们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IT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基础架构一共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个人，每个人手上都有系统、网络、桌面的事，已经满负荷。现在排查一次安全问题，要逐台登录防火墙、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AD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、服务器去查日志，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一次就要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到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4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个小时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。而且非工作时间、节假日基本处于无监控状态，只能靠人盯，有盲区。我们不是不想做，是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靠人工根本做不过来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57086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部署日志审计平台后，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查询时间从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2–4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小时降到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10–30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分钟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；告警从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被动发现、数小时后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变成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实时推送、分钟级响应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；合规报表从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手工整理、每月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2–3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人天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变成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一键生成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；监控从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工作日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8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小时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变成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'7×24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小时自动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'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最关键的是，不需要新增安全编制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，现有团队就能承担。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18052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这一页是我们当前面临的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内部操作风险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。三个典型场景：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第一，离职前批量打包技术资料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，我们现在不知道、也没告警；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第二，非工作时间或异地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IP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登录核心系统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，我们没记录；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第三，数据库被全表导出或无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WHERE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条件查询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，我们无拦截。当前状态是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无感知、无记录、无拦截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，一旦出问题，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IT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自证困难，责任界不清，只能被动挨打。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6730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安恒明御平台的核心价值在于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功能与合规要求一一对应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。多协议日志采集对应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A.8.15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和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日志保留要求；加密存储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+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防篡改对应日志完整性保护；三权分立对应权限分离要求；内置报表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+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自动审阅对应定期审阅要求；实时关联分析对应异常监控要求。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简单说，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和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的要求，它都能覆盖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35198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“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这里要专门说明一下选型过程。我们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前期测试了深信服的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LAS-1000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，价格确实更便宜，但测试后发现两个硬伤：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第一，不支持解析规则自定义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，我们部分国产设备和数据库的日志格式无法识别；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第二，没有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27001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内置合规模板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 审计老师来了没法一键出报表。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5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月份我们切换测试安恒，经过一个月验证，功能完全匹配。所以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不是买贵的，是买能满足审计要求的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8543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江苏政府采购</a:t>
            </a:r>
            <a:endParaRPr lang="en-US" altLang="zh-CN" dirty="0"/>
          </a:p>
          <a:p>
            <a:r>
              <a:rPr lang="en-US" altLang="zh-CN" dirty="0"/>
              <a:t>http://www.ccgp-jiangsu.gov.cn/jiangsu/sjghxy/aqsjsb/1c/1c95c8fb88204051bfa2bd5a7813c2ca.html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北京市消防救援总队日志审计系统反拍采购需求公告</a:t>
            </a:r>
            <a:endParaRPr lang="en-US" altLang="zh-CN" dirty="0"/>
          </a:p>
          <a:p>
            <a:r>
              <a:rPr lang="en-US" altLang="zh-CN" dirty="0"/>
              <a:t>https://mkt.zycg.gov.cn/mall-view/product/detail?skuid=1564229</a:t>
            </a:r>
          </a:p>
          <a:p>
            <a:r>
              <a:rPr lang="en-US" altLang="zh-CN" dirty="0"/>
              <a:t>https://www.119bid.com/view/770/MnQa6ZEBow6dExq3N-iH.html</a:t>
            </a:r>
          </a:p>
          <a:p>
            <a:endParaRPr lang="en-US" altLang="zh-CN" dirty="0"/>
          </a:p>
          <a:p>
            <a:r>
              <a:rPr lang="zh-CN" altLang="en-US" dirty="0"/>
              <a:t>硬件</a:t>
            </a:r>
            <a:endParaRPr lang="en-US" altLang="zh-CN" dirty="0"/>
          </a:p>
          <a:p>
            <a:r>
              <a:rPr lang="en-US" altLang="zh-CN" dirty="0"/>
              <a:t>https://www.cpep360.com/goods.php?id=10473</a:t>
            </a:r>
          </a:p>
          <a:p>
            <a:r>
              <a:rPr lang="zh-CN" altLang="en-US" dirty="0"/>
              <a:t>公开采购价格</a:t>
            </a:r>
            <a:endParaRPr lang="en-US" altLang="zh-CN" dirty="0"/>
          </a:p>
          <a:p>
            <a:r>
              <a:rPr lang="en-US" altLang="zh-CN" dirty="0"/>
              <a:t>https://nt.ntycmall.cn/project_notices/1206?category_id=12</a:t>
            </a:r>
          </a:p>
          <a:p>
            <a:endParaRPr lang="en-US" altLang="zh-CN" dirty="0"/>
          </a:p>
          <a:p>
            <a:r>
              <a:rPr lang="zh-CN" altLang="en-US" dirty="0"/>
              <a:t>华为云官网</a:t>
            </a:r>
            <a:endParaRPr lang="en-US" altLang="zh-CN" dirty="0"/>
          </a:p>
          <a:p>
            <a:r>
              <a:rPr lang="en-US" altLang="zh-CN" dirty="0"/>
              <a:t>https://marketplace.huaweicloud.com/contents/051362f0-85c3-4995-8083-319997ad43fe#productid=OFFI842289926280302593</a:t>
            </a:r>
            <a:br>
              <a:rPr lang="en-US" altLang="zh-CN" dirty="0"/>
            </a:b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“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部署方面，我们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不需要买任何物理服务器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，利用现有 的服务器，分配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16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核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CPU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32G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内存、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1TB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存储即可，资源已经确认充足。预算走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IT Q2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季度预算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，不额外追加部门费用。市场参考价方面，江苏政府采购网同型号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200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授权报价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17.4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万，北京消防总队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80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授权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7.78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万，华为云订阅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8.2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万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/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年，我们的采购价在市场合理区间内。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7224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8600" cy="37004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三家供应商比价结果：上海天哲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134,246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元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，安恒原厂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160,000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元，华为云订阅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82,872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元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/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年。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我明确推荐上海天哲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：价格最低，是安恒原厂授权代理，本地服务响应快，虚拟机部署灵活。付款方式建议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分三期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：合同签订付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30%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，部署完成运行一周后付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40%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，运行无问题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个月后付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30%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。发票开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13%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增值税专用发票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，可抵扣进项税约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15,450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元。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496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这是安恒原厂的三证：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中国国家信息安全产品认证证书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、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网络安全专用产品安全检测证书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（公安部检测通过）、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计算机软件著作权登记证书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。产品合法合规，不是野鸡软件，满足等保及行业监管要求。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81711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最后看实施计划。总周期约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5–6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周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：采购审批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周 → 环境准备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天 → 软件部署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天 → 日志接入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2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周 → 报表配置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周 → 验收培训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周。我们的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信息安全外审在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9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月，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审计在 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10–11 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，如果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6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月初能完成审批，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7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月中旬可以上线，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8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月稳定运行，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刚好能赶上审计，但几乎没有缓冲时间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。预期效果：完全满足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ISO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和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RJ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要求，日志查询从逐台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grep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变成一站式检索，实时告警降低安全风险，随时导出报表应对检查。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ＭＳ Ｐ明朝" pitchFamily="18" charset="-128"/>
                <a:cs typeface="+mn-cs"/>
              </a:rPr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30C60-EB13-4BAB-9652-4FA17DCFD079}" type="slidenum">
              <a:rPr lang="en-US" altLang="ja-JP" smtClean="0"/>
              <a:pPr/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0297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 userDrawn="1"/>
        </p:nvSpPr>
        <p:spPr bwMode="auto">
          <a:xfrm>
            <a:off x="609600" y="228640"/>
            <a:ext cx="7772400" cy="342960"/>
          </a:xfrm>
          <a:prstGeom prst="rect">
            <a:avLst/>
          </a:prstGeom>
          <a:gradFill rotWithShape="1">
            <a:gsLst>
              <a:gs pos="0">
                <a:srgbClr val="9E0000"/>
              </a:gs>
              <a:gs pos="86000">
                <a:srgbClr val="9E0000"/>
              </a:gs>
              <a:gs pos="100000">
                <a:srgbClr val="FDDBD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1pPr>
            <a:lvl2pPr marL="742950" indent="-28575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2pPr>
            <a:lvl3pPr marL="11430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3pPr>
            <a:lvl4pPr marL="16002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4pPr>
            <a:lvl5pPr marL="20574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9pPr>
          </a:lstStyle>
          <a:p>
            <a:pPr eaLnBrk="1" hangingPunct="1"/>
            <a:endParaRPr lang="ja-JP" altLang="en-US" sz="18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50" charset="-128"/>
            </a:endParaRPr>
          </a:p>
        </p:txBody>
      </p:sp>
      <p:sp>
        <p:nvSpPr>
          <p:cNvPr id="6" name="Line 6"/>
          <p:cNvSpPr>
            <a:spLocks noChangeShapeType="1"/>
          </p:cNvSpPr>
          <p:nvPr userDrawn="1"/>
        </p:nvSpPr>
        <p:spPr bwMode="auto">
          <a:xfrm>
            <a:off x="457200" y="4786833"/>
            <a:ext cx="8153400" cy="0"/>
          </a:xfrm>
          <a:prstGeom prst="line">
            <a:avLst/>
          </a:prstGeom>
          <a:noFill/>
          <a:ln w="57150" cmpd="thickThin">
            <a:solidFill>
              <a:srgbClr val="99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" name="角丸四角形 10"/>
          <p:cNvSpPr/>
          <p:nvPr userDrawn="1"/>
        </p:nvSpPr>
        <p:spPr bwMode="auto">
          <a:xfrm rot="20422254">
            <a:off x="7929781" y="206923"/>
            <a:ext cx="1152525" cy="280928"/>
          </a:xfrm>
          <a:prstGeom prst="roundRect">
            <a:avLst/>
          </a:prstGeom>
          <a:solidFill>
            <a:schemeClr val="accent3">
              <a:alpha val="79000"/>
            </a:schemeClr>
          </a:solidFill>
          <a:ln w="34925" algn="ctr">
            <a:solidFill>
              <a:srgbClr val="FF0000"/>
            </a:solidFill>
            <a:prstDash val="solid"/>
            <a:round/>
          </a:ln>
        </p:spPr>
        <p:txBody>
          <a:bodyPr anchor="ctr">
            <a:spAutoFit/>
          </a:bodyPr>
          <a:lstStyle>
            <a:lvl1pPr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1pPr>
            <a:lvl2pPr marL="742950" indent="-28575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2pPr>
            <a:lvl3pPr marL="11430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3pPr>
            <a:lvl4pPr marL="16002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4pPr>
            <a:lvl5pPr marL="2057400" indent="-228600"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CC"/>
                </a:solidFill>
                <a:latin typeface="Arial" panose="020B0604020202020204" pitchFamily="34" charset="0"/>
                <a:ea typeface="MS PGothic" panose="020B0600070205080204" pitchFamily="50" charset="-128"/>
              </a:defRPr>
            </a:lvl9pPr>
          </a:lstStyle>
          <a:p>
            <a:pPr algn="ctr" eaLnBrk="1" hangingPunct="1"/>
            <a:r>
              <a:rPr kumimoji="1" lang="en-US" altLang="ja-JP" sz="1050" b="0" dirty="0">
                <a:solidFill>
                  <a:srgbClr val="FF0000"/>
                </a:solidFill>
                <a:latin typeface="微软雅黑" panose="020B0503020204020204" pitchFamily="34" charset="-122"/>
                <a:ea typeface="PMingLiU" pitchFamily="18" charset="-120"/>
              </a:rPr>
              <a:t>Confidential</a:t>
            </a:r>
            <a:endParaRPr kumimoji="1" lang="ja-JP" altLang="en-US" sz="1050" b="0" dirty="0">
              <a:solidFill>
                <a:srgbClr val="FF0000"/>
              </a:solidFill>
              <a:latin typeface="微软雅黑" panose="020B0503020204020204" pitchFamily="34" charset="-122"/>
              <a:ea typeface="PMingLiU" pitchFamily="18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327150" y="231022"/>
            <a:ext cx="6864350" cy="3429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スライド番号プレースホルダ 8"/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  <a:prstGeom prst="rect">
            <a:avLst/>
          </a:prstGeom>
        </p:spPr>
        <p:txBody>
          <a:bodyPr/>
          <a:lstStyle>
            <a:lvl1pPr eaLnBrk="0" hangingPunct="0">
              <a:defRPr sz="1350" b="1">
                <a:solidFill>
                  <a:srgbClr val="C00000"/>
                </a:solidFill>
                <a:latin typeface="Arial" panose="020B0604020202020204" pitchFamily="34" charset="0"/>
              </a:defRPr>
            </a:lvl1pPr>
          </a:lstStyle>
          <a:p>
            <a:fld id="{012860D7-74F8-45D8-912E-A25AA711B9F0}" type="slidenum">
              <a:rPr lang="en-US" altLang="ja-JP"/>
              <a:t>‹#›</a:t>
            </a:fld>
            <a:endParaRPr lang="en-US" altLang="ja-JP" dirty="0"/>
          </a:p>
        </p:txBody>
      </p:sp>
      <p:sp>
        <p:nvSpPr>
          <p:cNvPr id="11" name="フッター プレースホルダ 32"/>
          <p:cNvSpPr>
            <a:spLocks noGrp="1"/>
          </p:cNvSpPr>
          <p:nvPr userDrawn="1">
            <p:ph type="ftr" sz="quarter" idx="11"/>
          </p:nvPr>
        </p:nvSpPr>
        <p:spPr>
          <a:xfrm>
            <a:off x="5814138" y="4865749"/>
            <a:ext cx="2648825" cy="242923"/>
          </a:xfrm>
          <a:prstGeom prst="rect">
            <a:avLst/>
          </a:prstGeom>
        </p:spPr>
        <p:txBody>
          <a:bodyPr anchor="ctr"/>
          <a:lstStyle>
            <a:lvl1pPr algn="ctr" eaLnBrk="0" hangingPunct="0">
              <a:defRPr sz="1050" b="1">
                <a:solidFill>
                  <a:srgbClr val="A71E4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ja-JP" dirty="0">
                <a:latin typeface="微软雅黑" panose="020B0503020204020204" pitchFamily="34" charset="-122"/>
              </a:rPr>
              <a:t>RORZE </a:t>
            </a:r>
            <a:r>
              <a:rPr lang="en-US" altLang="zh-CN" dirty="0">
                <a:latin typeface="微软雅黑" panose="020B0503020204020204" pitchFamily="34" charset="-122"/>
              </a:rPr>
              <a:t>CREATECH</a:t>
            </a:r>
            <a:r>
              <a:rPr lang="en-US" altLang="ja-JP" dirty="0">
                <a:latin typeface="微软雅黑" panose="020B0503020204020204" pitchFamily="34" charset="-122"/>
              </a:rPr>
              <a:t> CO., LTD.</a:t>
            </a: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70" y="4857409"/>
            <a:ext cx="1269229" cy="251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593850" y="564455"/>
            <a:ext cx="6864350" cy="34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/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25" y="1008637"/>
            <a:ext cx="8243888" cy="3564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/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65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anose="020B0604020202020204" pitchFamily="34" charset="0"/>
          <a:ea typeface="MS PGothic" panose="020B0600070205080204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anose="020B0604020202020204" pitchFamily="34" charset="0"/>
          <a:ea typeface="MS PGothic" panose="020B0600070205080204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anose="020B0604020202020204" pitchFamily="34" charset="0"/>
          <a:ea typeface="MS PGothic" panose="020B0600070205080204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anose="020B0604020202020204" pitchFamily="34" charset="0"/>
          <a:ea typeface="MS PGothic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Univers 65 Bold" charset="0"/>
          <a:ea typeface="ヒラギノ角ゴ Pro W3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Univers 65 Bold" charset="0"/>
          <a:ea typeface="ヒラギノ角ゴ Pro W3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Univers 65 Bold" charset="0"/>
          <a:ea typeface="ヒラギノ角ゴ Pro W3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Univers 65 Bold" charset="0"/>
          <a:ea typeface="ヒラギノ角ゴ Pro W3" charset="-128"/>
        </a:defRPr>
      </a:lvl9pPr>
    </p:titleStyle>
    <p:bodyStyle>
      <a:lvl1pPr marL="156210" indent="-156210" algn="l" rtl="0" eaLnBrk="0" fontAlgn="base" hangingPunct="0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rgbClr val="015545"/>
          </a:solidFill>
          <a:latin typeface="+mn-lt"/>
          <a:ea typeface="+mn-ea"/>
          <a:cs typeface="+mn-cs"/>
        </a:defRPr>
      </a:lvl1pPr>
      <a:lvl2pPr marL="386080" indent="-152400" algn="l" rtl="0" eaLnBrk="0" fontAlgn="base" hangingPunct="0">
        <a:spcBef>
          <a:spcPct val="15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2pPr>
      <a:lvl3pPr marL="580390" indent="-116840" algn="l" rtl="0" eaLnBrk="0" fontAlgn="base" hangingPunct="0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1050">
          <a:solidFill>
            <a:srgbClr val="015545"/>
          </a:solidFill>
          <a:latin typeface="+mn-lt"/>
          <a:ea typeface="+mn-ea"/>
        </a:defRPr>
      </a:lvl3pPr>
      <a:lvl4pPr marL="738505" indent="-81280" algn="l" rtl="0" eaLnBrk="0" fontAlgn="base" hangingPunct="0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975">
          <a:solidFill>
            <a:schemeClr val="tx1"/>
          </a:solidFill>
          <a:latin typeface="+mj-lt"/>
          <a:ea typeface="+mn-ea"/>
        </a:defRPr>
      </a:lvl4pPr>
      <a:lvl5pPr marL="927735" indent="-111760" algn="l" rtl="0" eaLnBrk="0" fontAlgn="base" hangingPunct="0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825">
          <a:solidFill>
            <a:schemeClr val="tx1"/>
          </a:solidFill>
          <a:latin typeface="微软雅黑" panose="020B0503020204020204" pitchFamily="34" charset="-122"/>
          <a:ea typeface="+mn-ea"/>
        </a:defRPr>
      </a:lvl5pPr>
      <a:lvl6pPr marL="1270635" indent="-111760" algn="l" rtl="0" eaLnBrk="1" fontAlgn="base" hangingPunct="1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825">
          <a:solidFill>
            <a:schemeClr val="tx1"/>
          </a:solidFill>
          <a:latin typeface="Univers 55" charset="0"/>
          <a:ea typeface="+mn-ea"/>
        </a:defRPr>
      </a:lvl6pPr>
      <a:lvl7pPr marL="1613535" indent="-111760" algn="l" rtl="0" eaLnBrk="1" fontAlgn="base" hangingPunct="1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825">
          <a:solidFill>
            <a:schemeClr val="tx1"/>
          </a:solidFill>
          <a:latin typeface="Univers 55" charset="0"/>
          <a:ea typeface="+mn-ea"/>
        </a:defRPr>
      </a:lvl7pPr>
      <a:lvl8pPr marL="1957070" indent="-111760" algn="l" rtl="0" eaLnBrk="1" fontAlgn="base" hangingPunct="1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825">
          <a:solidFill>
            <a:schemeClr val="tx1"/>
          </a:solidFill>
          <a:latin typeface="Univers 55" charset="0"/>
          <a:ea typeface="+mn-ea"/>
        </a:defRPr>
      </a:lvl8pPr>
      <a:lvl9pPr marL="2299970" indent="-111760" algn="l" rtl="0" eaLnBrk="1" fontAlgn="base" hangingPunct="1">
        <a:spcBef>
          <a:spcPct val="15000"/>
        </a:spcBef>
        <a:spcAft>
          <a:spcPct val="0"/>
        </a:spcAft>
        <a:buFont typeface="Wingdings" panose="05000000000000000000" pitchFamily="2" charset="2"/>
        <a:buChar char="§"/>
        <a:defRPr sz="825">
          <a:solidFill>
            <a:schemeClr val="tx1"/>
          </a:solidFill>
          <a:latin typeface="Univers 55" charset="0"/>
          <a:ea typeface="+mn-ea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z="1350" smtClean="0"/>
              <a:t>1</a:t>
            </a:fld>
            <a:endParaRPr lang="en-US" altLang="ja-JP" sz="135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60EC3B-0D36-6847-275B-3578D57EA0B3}"/>
              </a:ext>
            </a:extLst>
          </p:cNvPr>
          <p:cNvSpPr txBox="1"/>
          <p:nvPr/>
        </p:nvSpPr>
        <p:spPr>
          <a:xfrm>
            <a:off x="1187624" y="1276427"/>
            <a:ext cx="6768752" cy="259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A71E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信息安全与</a:t>
            </a:r>
            <a:r>
              <a:rPr lang="en-US" altLang="zh-CN" sz="4000" dirty="0">
                <a:solidFill>
                  <a:srgbClr val="A71E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RJ</a:t>
            </a:r>
            <a:r>
              <a:rPr lang="zh-CN" altLang="en-US" sz="4000" dirty="0">
                <a:solidFill>
                  <a:srgbClr val="A71E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审计风险一体化解决方案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rgbClr val="A71E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800" dirty="0">
                <a:solidFill>
                  <a:srgbClr val="A71E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安恒明御综合日志审计平台汇报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F5C6791-6C2E-C4D6-59E9-AEBC6546E7E7}"/>
              </a:ext>
            </a:extLst>
          </p:cNvPr>
          <p:cNvSpPr/>
          <p:nvPr/>
        </p:nvSpPr>
        <p:spPr bwMode="auto">
          <a:xfrm>
            <a:off x="1043608" y="1131590"/>
            <a:ext cx="6984776" cy="2808312"/>
          </a:xfrm>
          <a:prstGeom prst="roundRect">
            <a:avLst/>
          </a:prstGeom>
          <a:noFill/>
          <a:ln w="0" cmpd="sng" algn="ctr">
            <a:noFill/>
            <a:prstDash val="solid"/>
            <a:round/>
          </a:ln>
        </p:spPr>
        <p:txBody>
          <a:bodyPr rtlCol="0" anchor="ctr">
            <a:sp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9FDC45-2675-A805-8D62-9335882C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为什么需要统一的日志审计平台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1D6B5D4-0C79-18F5-785B-628B6397D7AF}"/>
              </a:ext>
            </a:extLst>
          </p:cNvPr>
          <p:cNvSpPr/>
          <p:nvPr/>
        </p:nvSpPr>
        <p:spPr>
          <a:xfrm>
            <a:off x="589217" y="771550"/>
            <a:ext cx="28903" cy="635000"/>
          </a:xfrm>
          <a:prstGeom prst="rect">
            <a:avLst/>
          </a:prstGeom>
          <a:solidFill>
            <a:srgbClr val="C41E24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BFBCD09-EDC1-21CD-D9D0-504AAC94031A}"/>
              </a:ext>
            </a:extLst>
          </p:cNvPr>
          <p:cNvSpPr/>
          <p:nvPr/>
        </p:nvSpPr>
        <p:spPr>
          <a:xfrm>
            <a:off x="704831" y="771550"/>
            <a:ext cx="826638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当前日志管理存在</a:t>
            </a:r>
            <a:r>
              <a:rPr lang="en-US" sz="1800" b="1" dirty="0" err="1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合规差距与审计盲区</a:t>
            </a:r>
            <a:r>
              <a:rPr lang="en-US" sz="18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</a:t>
            </a:r>
            <a:r>
              <a:rPr lang="zh-CN" altLang="en-US" sz="18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及</a:t>
            </a:r>
            <a:r>
              <a:rPr lang="en-US" sz="18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需通过集中化日志审计平台进行整改</a:t>
            </a:r>
            <a:r>
              <a:rPr lang="en-US" sz="18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3126845-0694-1805-CDCC-0D20E8EBDC98}"/>
              </a:ext>
            </a:extLst>
          </p:cNvPr>
          <p:cNvSpPr/>
          <p:nvPr/>
        </p:nvSpPr>
        <p:spPr>
          <a:xfrm>
            <a:off x="585853" y="1612044"/>
            <a:ext cx="3960000" cy="1980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5685B24-1252-D095-F735-94D74708B7C6}"/>
              </a:ext>
            </a:extLst>
          </p:cNvPr>
          <p:cNvSpPr/>
          <p:nvPr/>
        </p:nvSpPr>
        <p:spPr>
          <a:xfrm>
            <a:off x="585853" y="1612044"/>
            <a:ext cx="37809" cy="1995823"/>
          </a:xfrm>
          <a:prstGeom prst="rect">
            <a:avLst/>
          </a:prstGeom>
          <a:solidFill>
            <a:srgbClr val="C41E24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236E6A4-6663-EB3F-A95E-131BB8D8BDD1}"/>
              </a:ext>
            </a:extLst>
          </p:cNvPr>
          <p:cNvSpPr/>
          <p:nvPr/>
        </p:nvSpPr>
        <p:spPr>
          <a:xfrm>
            <a:off x="737087" y="1742206"/>
            <a:ext cx="3690897" cy="260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ISO 27001:2022 A.8.15 日志 · A.8.16 监控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B287145-1D79-D608-5FFC-28618A8D7E9E}"/>
              </a:ext>
            </a:extLst>
          </p:cNvPr>
          <p:cNvSpPr/>
          <p:nvPr/>
        </p:nvSpPr>
        <p:spPr>
          <a:xfrm>
            <a:off x="737088" y="2002531"/>
            <a:ext cx="3808765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① 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日志分散存储于各设备，无统一采集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② 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日志可被手动修改或删除，无防篡改机制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③ 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无定期日志审阅流程，缺乏自动化分析工具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 err="1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风险：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可能无法通过年度监督审核，影响证书维持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62BDE76-9DF6-9693-A5BF-E33EA3B157B1}"/>
              </a:ext>
            </a:extLst>
          </p:cNvPr>
          <p:cNvSpPr/>
          <p:nvPr/>
        </p:nvSpPr>
        <p:spPr>
          <a:xfrm>
            <a:off x="5096948" y="1620963"/>
            <a:ext cx="3960000" cy="1980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CCA447E-1AAC-E765-93F0-C91BED104FAC}"/>
              </a:ext>
            </a:extLst>
          </p:cNvPr>
          <p:cNvSpPr/>
          <p:nvPr/>
        </p:nvSpPr>
        <p:spPr>
          <a:xfrm>
            <a:off x="5096948" y="1620964"/>
            <a:ext cx="36356" cy="1977983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F5F85BD-A5A5-8518-CFDE-C81860633D52}"/>
              </a:ext>
            </a:extLst>
          </p:cNvPr>
          <p:cNvSpPr/>
          <p:nvPr/>
        </p:nvSpPr>
        <p:spPr>
          <a:xfrm>
            <a:off x="5298928" y="1741711"/>
            <a:ext cx="3164036" cy="257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RJ</a:t>
            </a:r>
            <a:r>
              <a:rPr lang="en-US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总部审计要求</a:t>
            </a:r>
            <a:r>
              <a:rPr lang="en-US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1-16</a:t>
            </a:r>
            <a:r>
              <a:rPr lang="zh-CN" altLang="en-US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至</a:t>
            </a:r>
            <a:r>
              <a:rPr lang="en-US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18</a:t>
            </a:r>
            <a:r>
              <a:rPr lang="zh-CN" altLang="en-US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条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B172C9-C5CD-2646-33BF-D88FCBD0F050}"/>
              </a:ext>
            </a:extLst>
          </p:cNvPr>
          <p:cNvSpPr/>
          <p:nvPr/>
        </p:nvSpPr>
        <p:spPr>
          <a:xfrm>
            <a:off x="5298927" y="1995846"/>
            <a:ext cx="3758021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70000"/>
              </a:lnSpc>
              <a:buAutoNum type="circleNumDbPlain"/>
            </a:pP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使用管理员账户，需确认生产环境变更申请已提交；</a:t>
            </a:r>
            <a:endParaRPr lang="en-US" altLang="zh-CN" sz="1200" dirty="0">
              <a:solidFill>
                <a:srgbClr val="1E293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marL="228600" indent="-228600">
              <a:lnSpc>
                <a:spcPct val="170000"/>
              </a:lnSpc>
              <a:buAutoNum type="circleNumDbPlain"/>
            </a:pP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业务系统操作日志，访问</a:t>
            </a: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日志至少保留365天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③ 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网络设备操作日志，访问</a:t>
            </a:r>
            <a:r>
              <a:rPr lang="en-US" altLang="zh-CN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日志至少保留365天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b="1" dirty="0" err="1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风险：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不符要求将影响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管理部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年度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总部</a:t>
            </a:r>
            <a:r>
              <a:rPr lang="en-US" sz="1200" dirty="0" err="1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内控评分</a:t>
            </a:r>
            <a:r>
              <a:rPr lang="zh-CN" alt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3AAC1AD6-6A7A-B1A6-FF0C-2F2CFD50EBD9}"/>
              </a:ext>
            </a:extLst>
          </p:cNvPr>
          <p:cNvSpPr/>
          <p:nvPr/>
        </p:nvSpPr>
        <p:spPr>
          <a:xfrm>
            <a:off x="848476" y="3811543"/>
            <a:ext cx="6938962" cy="382036"/>
          </a:xfrm>
          <a:prstGeom prst="rect">
            <a:avLst/>
          </a:prstGeom>
          <a:gradFill flip="none" rotWithShape="1">
            <a:gsLst>
              <a:gs pos="0">
                <a:srgbClr val="1B3A5C"/>
              </a:gs>
              <a:gs pos="100000">
                <a:srgbClr val="1B3A5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9631375-8F4B-F51B-EFA4-BF815503B034}"/>
              </a:ext>
            </a:extLst>
          </p:cNvPr>
          <p:cNvSpPr/>
          <p:nvPr/>
        </p:nvSpPr>
        <p:spPr>
          <a:xfrm>
            <a:off x="848476" y="3804640"/>
            <a:ext cx="6938962" cy="382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现状 → 目标 存在差距 → 需要采购日志审计平台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6ED8D9D-4A47-954D-02FA-40A587EC22F0}"/>
              </a:ext>
            </a:extLst>
          </p:cNvPr>
          <p:cNvSpPr/>
          <p:nvPr/>
        </p:nvSpPr>
        <p:spPr>
          <a:xfrm>
            <a:off x="645063" y="4264214"/>
            <a:ext cx="7565841" cy="38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ISO 27001证书维持 + 总部审计合规 = </a:t>
            </a:r>
            <a:r>
              <a:rPr lang="en-US" sz="1600" b="1" dirty="0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双重合规压力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灯片编号占位符 3">
            <a:extLst>
              <a:ext uri="{FF2B5EF4-FFF2-40B4-BE49-F238E27FC236}">
                <a16:creationId xmlns:a16="http://schemas.microsoft.com/office/drawing/2014/main" id="{89B0F90A-0F0D-4901-F60F-98119674B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2</a:t>
            </a:fld>
            <a:endParaRPr lang="en-US" altLang="ja-JP" sz="1350" dirty="0"/>
          </a:p>
        </p:txBody>
      </p:sp>
      <p:sp>
        <p:nvSpPr>
          <p:cNvPr id="26" name="页脚占位符 4">
            <a:extLst>
              <a:ext uri="{FF2B5EF4-FFF2-40B4-BE49-F238E27FC236}">
                <a16:creationId xmlns:a16="http://schemas.microsoft.com/office/drawing/2014/main" id="{C63DA134-924F-4486-407F-F940D5DC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139070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">
            <a:extLst>
              <a:ext uri="{FF2B5EF4-FFF2-40B4-BE49-F238E27FC236}">
                <a16:creationId xmlns:a16="http://schemas.microsoft.com/office/drawing/2014/main" id="{A450025E-620D-A3FF-DBCB-41B69CA76D48}"/>
              </a:ext>
            </a:extLst>
          </p:cNvPr>
          <p:cNvSpPr/>
          <p:nvPr/>
        </p:nvSpPr>
        <p:spPr>
          <a:xfrm>
            <a:off x="756896" y="4011910"/>
            <a:ext cx="7371104" cy="635000"/>
          </a:xfrm>
          <a:prstGeom prst="rect">
            <a:avLst/>
          </a:prstGeom>
          <a:solidFill>
            <a:srgbClr val="F9E8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02E824-7DF3-3375-5E02-20334F5C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当前日志管理与ISO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27001要求的差距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1583A88-29D1-8E2A-C4C7-621B82514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083702"/>
              </p:ext>
            </p:extLst>
          </p:nvPr>
        </p:nvGraphicFramePr>
        <p:xfrm>
          <a:off x="711176" y="874060"/>
          <a:ext cx="7416824" cy="2979724"/>
        </p:xfrm>
        <a:graphic>
          <a:graphicData uri="http://schemas.openxmlformats.org/drawingml/2006/table">
            <a:tbl>
              <a:tblPr/>
              <a:tblGrid>
                <a:gridCol w="148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669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ISO 27001控制项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具体要求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公司现状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差距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011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产生、存储、保护、分析相关事件记录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日志分散，无集中存储；部分设备未开启日志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011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日志完整性保护，防篡改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本地日志可被系统管理员随意修改/删除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011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日志访问权限分离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系统</a:t>
                      </a:r>
                      <a:r>
                        <a:rPr lang="en-US" sz="12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管理员可同时修改系统配置和日志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011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日志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定期审阅日志并记录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无定期审阅流程，依赖人工临时排查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011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A.8.16 监控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持续监控异常行为和事件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zabbix</a:t>
                      </a:r>
                      <a:r>
                        <a:rPr lang="en-US" sz="12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统一监控</a:t>
                      </a:r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系统运行状态</a:t>
                      </a:r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，</a:t>
                      </a:r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但是无法监控管理员账号登录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⊘</a:t>
                      </a:r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 不</a:t>
                      </a:r>
                      <a:r>
                        <a:rPr lang="zh-CN" alt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完全</a:t>
                      </a:r>
                      <a:r>
                        <a:rPr lang="en-US" sz="1200" u="none" dirty="0" err="1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3">
            <a:extLst>
              <a:ext uri="{FF2B5EF4-FFF2-40B4-BE49-F238E27FC236}">
                <a16:creationId xmlns:a16="http://schemas.microsoft.com/office/drawing/2014/main" id="{3F9AC723-A610-FDE2-7BC2-6EE861073C85}"/>
              </a:ext>
            </a:extLst>
          </p:cNvPr>
          <p:cNvSpPr/>
          <p:nvPr/>
        </p:nvSpPr>
        <p:spPr>
          <a:xfrm>
            <a:off x="711177" y="4011910"/>
            <a:ext cx="45719" cy="635000"/>
          </a:xfrm>
          <a:prstGeom prst="rect">
            <a:avLst/>
          </a:prstGeom>
          <a:solidFill>
            <a:srgbClr val="C41E24"/>
          </a:solidFill>
          <a:ln/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CDD9194-662F-D305-0FCB-4E70B195235A}"/>
              </a:ext>
            </a:extLst>
          </p:cNvPr>
          <p:cNvSpPr/>
          <p:nvPr/>
        </p:nvSpPr>
        <p:spPr>
          <a:xfrm>
            <a:off x="965177" y="4011910"/>
            <a:ext cx="68161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结论：以上5项差距构成体系性合规风险，需通过日志审计平台统一解决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AD223B43-CA7F-FF90-6E6C-BEA952C48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3</a:t>
            </a:fld>
            <a:endParaRPr lang="en-US" altLang="ja-JP" sz="1350" dirty="0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BB0C104F-B9ED-F14B-32BC-C7AEE6D8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524554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09AD-8FC5-B75B-8313-C9E549C6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CC3332A-3D39-1B50-A1B1-8A6E08D8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当前日志管理与RJ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总部审计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要求的差距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53857F3-7778-FC76-3CB9-7EBDE4185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047387"/>
              </p:ext>
            </p:extLst>
          </p:nvPr>
        </p:nvGraphicFramePr>
        <p:xfrm>
          <a:off x="711176" y="874060"/>
          <a:ext cx="7416824" cy="2701819"/>
        </p:xfrm>
        <a:graphic>
          <a:graphicData uri="http://schemas.openxmlformats.org/drawingml/2006/table">
            <a:tbl>
              <a:tblPr/>
              <a:tblGrid>
                <a:gridCol w="148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5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RJ</a:t>
                      </a:r>
                      <a:r>
                        <a:rPr lang="zh-CN" alt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总部审计要求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具体要求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公司现状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差距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105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1-16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账户日志应统一存储，管理员在非变更时间登录要有告警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日志分散，无集中采集；系统管理员登录无告警；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168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1-17-18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访问日志、操作日志（业务应用程序</a:t>
                      </a:r>
                      <a:r>
                        <a:rPr lang="en-US" altLang="zh-CN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/OS/DB</a:t>
                      </a:r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，网络设备</a:t>
                      </a:r>
                      <a:r>
                        <a:rPr lang="en-US" altLang="zh-CN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/</a:t>
                      </a:r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防火墙</a:t>
                      </a:r>
                      <a:r>
                        <a:rPr lang="en-US" altLang="zh-CN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/</a:t>
                      </a:r>
                      <a:r>
                        <a:rPr lang="zh-CN" altLang="en-US" sz="12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交换机）应至少保存一年，以便在必要时核查未经授权的访问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日志未统一采集；保留周期都在设备本地，保留期不足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365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天；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❌ </a:t>
                      </a:r>
                      <a:r>
                        <a:rPr lang="en-US" sz="1200" u="none" dirty="0" err="1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不满足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7A2E335E-D200-D677-0D59-3103F8140557}"/>
              </a:ext>
            </a:extLst>
          </p:cNvPr>
          <p:cNvSpPr/>
          <p:nvPr/>
        </p:nvSpPr>
        <p:spPr>
          <a:xfrm>
            <a:off x="711176" y="4011910"/>
            <a:ext cx="7416824" cy="635000"/>
          </a:xfrm>
          <a:prstGeom prst="rect">
            <a:avLst/>
          </a:prstGeom>
          <a:solidFill>
            <a:srgbClr val="C41E24">
              <a:alpha val="10196"/>
            </a:srgbClr>
          </a:solidFill>
          <a:ln/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CF24403-24FC-DE9A-FEC5-81E83929EEEF}"/>
              </a:ext>
            </a:extLst>
          </p:cNvPr>
          <p:cNvSpPr/>
          <p:nvPr/>
        </p:nvSpPr>
        <p:spPr>
          <a:xfrm>
            <a:off x="711177" y="4011910"/>
            <a:ext cx="45719" cy="635000"/>
          </a:xfrm>
          <a:prstGeom prst="rect">
            <a:avLst/>
          </a:prstGeom>
          <a:solidFill>
            <a:srgbClr val="C41E24"/>
          </a:solidFill>
          <a:ln/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61783D8-A06C-6416-5ADD-16DB6D6C282B}"/>
              </a:ext>
            </a:extLst>
          </p:cNvPr>
          <p:cNvSpPr/>
          <p:nvPr/>
        </p:nvSpPr>
        <p:spPr>
          <a:xfrm>
            <a:off x="965177" y="4011910"/>
            <a:ext cx="68161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C41E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结论：以上5项差距构成体系性合规风险，需通过日志审计平台统一解决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096065FF-1034-DF25-6581-250D558C0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4</a:t>
            </a:fld>
            <a:endParaRPr lang="en-US" altLang="ja-JP" sz="1350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B69A497-57E7-4345-C26F-AC02DECA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09802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E54C956-B246-CEC4-3F3A-72527E35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当前公司内设备情况梳理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4B9A18-BB78-F26E-085A-CFCAA067C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5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F9377-B165-5941-D547-4911AF27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7F37A48-A8AB-CB72-6848-5949156F7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52034"/>
              </p:ext>
            </p:extLst>
          </p:nvPr>
        </p:nvGraphicFramePr>
        <p:xfrm>
          <a:off x="683568" y="1131590"/>
          <a:ext cx="7488832" cy="3559568"/>
        </p:xfrm>
        <a:graphic>
          <a:graphicData uri="http://schemas.openxmlformats.org/drawingml/2006/table">
            <a:tbl>
              <a:tblPr/>
              <a:tblGrid>
                <a:gridCol w="1636278">
                  <a:extLst>
                    <a:ext uri="{9D8B030D-6E8A-4147-A177-3AD203B41FA5}">
                      <a16:colId xmlns:a16="http://schemas.microsoft.com/office/drawing/2014/main" val="2526507072"/>
                    </a:ext>
                  </a:extLst>
                </a:gridCol>
                <a:gridCol w="1849704">
                  <a:extLst>
                    <a:ext uri="{9D8B030D-6E8A-4147-A177-3AD203B41FA5}">
                      <a16:colId xmlns:a16="http://schemas.microsoft.com/office/drawing/2014/main" val="3161912875"/>
                    </a:ext>
                  </a:extLst>
                </a:gridCol>
                <a:gridCol w="1280565">
                  <a:extLst>
                    <a:ext uri="{9D8B030D-6E8A-4147-A177-3AD203B41FA5}">
                      <a16:colId xmlns:a16="http://schemas.microsoft.com/office/drawing/2014/main" val="1619673998"/>
                    </a:ext>
                  </a:extLst>
                </a:gridCol>
                <a:gridCol w="2722285">
                  <a:extLst>
                    <a:ext uri="{9D8B030D-6E8A-4147-A177-3AD203B41FA5}">
                      <a16:colId xmlns:a16="http://schemas.microsoft.com/office/drawing/2014/main" val="739837801"/>
                    </a:ext>
                  </a:extLst>
                </a:gridCol>
              </a:tblGrid>
              <a:tr h="33306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设备类别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472517"/>
                  </a:ext>
                </a:extLst>
              </a:tr>
              <a:tr h="5665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虚拟机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OS/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物理机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OS</a:t>
                      </a:r>
                      <a:endParaRPr 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Windows / Linux 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虚拟机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需安装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或配置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Syslog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669828"/>
                  </a:ext>
                </a:extLst>
              </a:tr>
              <a:tr h="5665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物理服务器带外</a:t>
                      </a: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DELL/H3C/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ZStack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等物理机操作系统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独立日志源，含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ESXi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华三服务器、戴尔服务器等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899685"/>
                  </a:ext>
                </a:extLst>
              </a:tr>
              <a:tr h="5665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网络设备</a:t>
                      </a: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防火墙、交换机、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、上网行为管理等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Syslog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协议设备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909503"/>
                  </a:ext>
                </a:extLst>
              </a:tr>
              <a:tr h="56653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应用服务器数据库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Mysql,Sql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server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 </a:t>
                      </a: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或数据库审计插件接入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828919"/>
                  </a:ext>
                </a:extLst>
              </a:tr>
              <a:tr h="446097">
                <a:tc gridSpan="2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合计（当前需接入）</a:t>
                      </a: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170</a:t>
                      </a: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47047"/>
                  </a:ext>
                </a:extLst>
              </a:tr>
              <a:tr h="446097">
                <a:tc gridSpan="2"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预留扩容余量（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zh-CN" alt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应对未来新增设备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31091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B8160B1-D7CE-9736-BB09-6CF3B2169F89}"/>
              </a:ext>
            </a:extLst>
          </p:cNvPr>
          <p:cNvSpPr txBox="1"/>
          <p:nvPr/>
        </p:nvSpPr>
        <p:spPr>
          <a:xfrm>
            <a:off x="673930" y="644455"/>
            <a:ext cx="74888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hangingPunct="1"/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经对全公司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资产清查，需接入日志审计平台的设备共分为三类：业务操作系统（含虚拟机及物理机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）、物理服务器、网络设备。合计当前日志源约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个，考虑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扩容余量，建议采购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个日志源授权。完整设备清单详见附件。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8BEC66D-FADD-2959-EC13-00D25D6B7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977583"/>
              </p:ext>
            </p:extLst>
          </p:nvPr>
        </p:nvGraphicFramePr>
        <p:xfrm>
          <a:off x="8191500" y="1390650"/>
          <a:ext cx="91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198" imgH="787400" progId="Excel.Sheet.12">
                  <p:embed/>
                </p:oleObj>
              </mc:Choice>
              <mc:Fallback>
                <p:oleObj name="Worksheet" showAsIcon="1" r:id="rId3" imgW="914198" imgH="787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1500" y="1390650"/>
                        <a:ext cx="91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766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FEBDEF-C69E-703E-E271-106543CF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人力成本优化（上）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现状痛点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08CFE3-3C8D-34C5-B389-4B0EF1CCD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6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E2990-3247-B9B8-4604-8984F39F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CD2EC5-1BDC-262B-064C-D88C287F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38"/>
          <a:stretch>
            <a:fillRect/>
          </a:stretch>
        </p:blipFill>
        <p:spPr>
          <a:xfrm>
            <a:off x="4124699" y="843558"/>
            <a:ext cx="4364619" cy="297716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6D69464-D961-AB6B-D4E0-D0CB81FB958F}"/>
              </a:ext>
            </a:extLst>
          </p:cNvPr>
          <p:cNvSpPr txBox="1"/>
          <p:nvPr/>
        </p:nvSpPr>
        <p:spPr>
          <a:xfrm>
            <a:off x="539552" y="1059582"/>
            <a:ext cx="3466022" cy="209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1" hangingPunct="1">
              <a:lnSpc>
                <a:spcPct val="150000"/>
              </a:lnSpc>
            </a:pP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当前困境：</a:t>
            </a:r>
          </a:p>
          <a:p>
            <a:pPr marL="171450" indent="-171450" defTabSz="6858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台、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2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台、服务器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20+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台、虚拟机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70+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 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日志分散各处；</a:t>
            </a:r>
          </a:p>
          <a:p>
            <a:pPr marL="171450" indent="-171450" defTabSz="6858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日均日志超千万条，人工逐台登录查看，单次排查需</a:t>
            </a:r>
            <a:r>
              <a:rPr lang="en-US" altLang="zh-CN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小时；</a:t>
            </a:r>
          </a:p>
          <a:p>
            <a:pPr marL="171450" indent="-171450" defTabSz="6858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非工作时间、节假日几乎无有效监控，存在明显盲区；</a:t>
            </a:r>
          </a:p>
          <a:p>
            <a:pPr marL="171450" indent="-171450" defTabSz="6858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依赖个人经验判断，异常行为极易遗漏；</a:t>
            </a:r>
          </a:p>
        </p:txBody>
      </p:sp>
    </p:spTree>
    <p:extLst>
      <p:ext uri="{BB962C8B-B14F-4D97-AF65-F5344CB8AC3E}">
        <p14:creationId xmlns:p14="http://schemas.microsoft.com/office/powerpoint/2010/main" val="203177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56F7963-2BDD-10BF-5D46-338F108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人力成本优化（下）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优化效果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B7338-4956-08CB-FD33-79A4D5972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7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368A5-230F-7F35-EA8F-0AC46A38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A6AE3D5-CF9F-42DF-DD46-CAD18955368D}"/>
              </a:ext>
            </a:extLst>
          </p:cNvPr>
          <p:cNvGraphicFramePr>
            <a:graphicFrameLocks noGrp="1"/>
          </p:cNvGraphicFramePr>
          <p:nvPr/>
        </p:nvGraphicFramePr>
        <p:xfrm>
          <a:off x="899592" y="843558"/>
          <a:ext cx="6984776" cy="3456386"/>
        </p:xfrm>
        <a:graphic>
          <a:graphicData uri="http://schemas.openxmlformats.org/drawingml/2006/table">
            <a:tbl>
              <a:tblPr/>
              <a:tblGrid>
                <a:gridCol w="1768678">
                  <a:extLst>
                    <a:ext uri="{9D8B030D-6E8A-4147-A177-3AD203B41FA5}">
                      <a16:colId xmlns:a16="http://schemas.microsoft.com/office/drawing/2014/main" val="3191549704"/>
                    </a:ext>
                  </a:extLst>
                </a:gridCol>
                <a:gridCol w="2470783">
                  <a:extLst>
                    <a:ext uri="{9D8B030D-6E8A-4147-A177-3AD203B41FA5}">
                      <a16:colId xmlns:a16="http://schemas.microsoft.com/office/drawing/2014/main" val="2838708607"/>
                    </a:ext>
                  </a:extLst>
                </a:gridCol>
                <a:gridCol w="2745315">
                  <a:extLst>
                    <a:ext uri="{9D8B030D-6E8A-4147-A177-3AD203B41FA5}">
                      <a16:colId xmlns:a16="http://schemas.microsoft.com/office/drawing/2014/main" val="2226991601"/>
                    </a:ext>
                  </a:extLst>
                </a:gridCol>
              </a:tblGrid>
              <a:tr h="52428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100" b="1" u="none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对比项</a:t>
                      </a:r>
                      <a:endParaRPr lang="en-US" sz="1100" b="1" u="none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当前人工模式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部署</a:t>
                      </a:r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Syslog</a:t>
                      </a:r>
                      <a:r>
                        <a:rPr lang="zh-CN" alt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47648"/>
                  </a:ext>
                </a:extLst>
              </a:tr>
              <a:tr h="733025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日志查看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逐台登录，耗时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2-4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统一检索，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10-30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分钟定位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336860"/>
                  </a:ext>
                </a:extLst>
              </a:tr>
              <a:tr h="733025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告警响应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被动发现，数小时后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实时邮件推送，分钟级响应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359978"/>
                  </a:ext>
                </a:extLst>
              </a:tr>
              <a:tr h="733025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合规报表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手工整理，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2-3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人天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一键生成，符合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RJ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ISO27001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757291"/>
                  </a:ext>
                </a:extLst>
              </a:tr>
              <a:tr h="733025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监控覆盖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工作时间</a:t>
                      </a: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7×24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小时全自动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28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123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98F6BF9-0094-B145-28A9-C6EF09AA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安全事故展示（下）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内部风险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EAC049-3089-094D-C881-C79913AF7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8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B342BE-1932-55A1-E0FF-AD164358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3D600C-8B0D-C90E-E328-E0D4742AC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648919"/>
            <a:ext cx="6341194" cy="405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62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FA8C1D-4939-9298-CEEA-BFF5E869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安全事故展示（上）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外部案例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2B6F1A-CAA6-2D7A-3757-91F0043E8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9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6EFF6-BE73-3CC9-8248-6517C3F7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1F0F19-F8C5-5306-5682-0AD7605E1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627534"/>
            <a:ext cx="6118847" cy="397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2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0B76CF-EAE8-B687-54E9-3013A275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为什么选择安恒明御综合日志审计平台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DE41056-CCEC-BF75-CB63-5276333ADAF8}"/>
              </a:ext>
            </a:extLst>
          </p:cNvPr>
          <p:cNvSpPr/>
          <p:nvPr/>
        </p:nvSpPr>
        <p:spPr>
          <a:xfrm>
            <a:off x="654682" y="627534"/>
            <a:ext cx="75799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产品名称：</a:t>
            </a: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明御综合日志审计平台（DAS-Logger）软件版 | </a:t>
            </a: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部署方式：</a:t>
            </a: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虚拟机部署（VMware/Xen/KVM/Hyper-V） | </a:t>
            </a: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授权规模：</a:t>
            </a: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200个日志源授权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产品定位：对各类日志数据进行全面采集、解析和深度关联分析，及时发现安全威胁和异常行为事件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16A775AE-B198-DE54-BB79-3A82521DA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36898"/>
              </p:ext>
            </p:extLst>
          </p:nvPr>
        </p:nvGraphicFramePr>
        <p:xfrm>
          <a:off x="611560" y="1575163"/>
          <a:ext cx="7579940" cy="3020931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138511055"/>
                    </a:ext>
                  </a:extLst>
                </a:gridCol>
                <a:gridCol w="2755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产品功能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对应ISO 27001要求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对应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要求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解决的具体问题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472"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多协议日志采集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产生记录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1-15-16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（管理员账户）、</a:t>
                      </a:r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1-17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（普通账户）、</a:t>
                      </a:r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1-18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（网络设备及重要系统）要求日志全部保留</a:t>
                      </a:r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1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年；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支持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网络设备、安全设备、服务器、数据库、应用系统等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多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个日志源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接入解析，可自定义保存时间；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472"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加密存储 + 防篡改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完整性保护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/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日志一旦入库不可修改，满足审计证据要求</a:t>
                      </a: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；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可支持定期自动备份；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472"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三权分立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访问权限分离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1-16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至</a:t>
                      </a:r>
                      <a:r>
                        <a:rPr lang="en-US" altLang="zh-CN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1-18</a:t>
                      </a:r>
                      <a:r>
                        <a:rPr lang="zh-CN" altLang="en-US" sz="10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（日志访问权限须与管理权限分离）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审计员/管理员/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操作员角色彻底分离，日志审计与系统管理权限独立</a:t>
                      </a: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,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日志统一管理，业务系统管理员无法删除修改日志；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472"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内置报表 + 自动审阅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A.8.15 定期审阅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（管理员操作审查）、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1-17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（访问日志审查）、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1-18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（变更日志审查）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自动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生成日</a:t>
                      </a:r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/周/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月报表，一键导出供内审；支持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自定义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解析字段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472"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实时关联分析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A.8.16 监控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RJ 1-16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（管理员异常行为识别）、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1-18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（生产环境变更监控）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识别异常登录、权限变更等行为并邮件/</a:t>
                      </a:r>
                      <a:r>
                        <a:rPr lang="en-US" sz="10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短信告警</a:t>
                      </a:r>
                      <a:r>
                        <a:rPr lang="zh-CN" altLang="en-US" sz="10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CE5D8D01-2352-D079-CFA4-08220993E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10</a:t>
            </a:fld>
            <a:endParaRPr lang="en-US" altLang="ja-JP" sz="1350" dirty="0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882373D4-966B-2CDF-7BA2-E8FF4603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168300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26F496-4118-140D-B53B-C2655258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调研竞品系统功能对比情况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2EBA21-ACE3-E2AF-E3CE-9AB4FE2F5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11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C7E80-4822-DA42-A4F8-3647C67F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890CC62-4651-90C7-76A3-5F722329E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98093"/>
              </p:ext>
            </p:extLst>
          </p:nvPr>
        </p:nvGraphicFramePr>
        <p:xfrm>
          <a:off x="755576" y="575017"/>
          <a:ext cx="7086615" cy="41079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887">
                  <a:extLst>
                    <a:ext uri="{9D8B030D-6E8A-4147-A177-3AD203B41FA5}">
                      <a16:colId xmlns:a16="http://schemas.microsoft.com/office/drawing/2014/main" val="110329708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566301268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26947968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169494929"/>
                    </a:ext>
                  </a:extLst>
                </a:gridCol>
                <a:gridCol w="834187">
                  <a:extLst>
                    <a:ext uri="{9D8B030D-6E8A-4147-A177-3AD203B41FA5}">
                      <a16:colId xmlns:a16="http://schemas.microsoft.com/office/drawing/2014/main" val="2404398490"/>
                    </a:ext>
                  </a:extLst>
                </a:gridCol>
                <a:gridCol w="894005">
                  <a:extLst>
                    <a:ext uri="{9D8B030D-6E8A-4147-A177-3AD203B41FA5}">
                      <a16:colId xmlns:a16="http://schemas.microsoft.com/office/drawing/2014/main" val="1990725115"/>
                    </a:ext>
                  </a:extLst>
                </a:gridCol>
              </a:tblGrid>
              <a:tr h="1274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功能大类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功能子类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技术指标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安恒</a:t>
                      </a:r>
                      <a:endParaRPr lang="zh-CN" altLang="en-US" sz="8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奇安信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深信服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267249"/>
                  </a:ext>
                </a:extLst>
              </a:tr>
              <a:tr h="3045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明御综合日志审计分析平台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网神</a:t>
                      </a:r>
                      <a:r>
                        <a:rPr lang="en-US" altLang="zh-CN" sz="800" b="1" u="none" strike="noStrike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SecFox</a:t>
                      </a: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日志收集与分析系统</a:t>
                      </a:r>
                      <a:endParaRPr lang="en-US" altLang="zh-CN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LAS-1000</a:t>
                      </a: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日志审计系统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29985"/>
                  </a:ext>
                </a:extLst>
              </a:tr>
              <a:tr h="55882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日志采集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日志协议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r>
                        <a:rPr lang="en-US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Syslog、SNMP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Trap、OPSEC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en-US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lea、XML、HTTP、TCP、ODBC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en-US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JDBC、WMI、FTP、SFTP、kafka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等协议进行日志收集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支持使用代理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Agent)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方式提取日志并收集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1267"/>
                  </a:ext>
                </a:extLst>
              </a:tr>
              <a:tr h="5588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采集对象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系统日志、各种应用日志、文本文件日志；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oracle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sqlserver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db2 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postgrelsql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等数据库的表数据；操作系统、数据库、应用程序、网络设备、安全设备等资产的性能数据。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89297"/>
                  </a:ext>
                </a:extLst>
              </a:tr>
              <a:tr h="16155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日志标准化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解析对象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支持不同厂商、不同类型、不同格式的日志进行统一解析。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455162"/>
                  </a:ext>
                </a:extLst>
              </a:tr>
              <a:tr h="8768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解析粒度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★★★支持日志的细粒度解析，维度多达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200+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后的日志字段包含但不限于：日期、发生时间、接收时间、设备类型、日志类型、日志来源、威胁值、源地址、目的地址、事件类型、时间范围、操作主体、操作对象、行为方式、技术动作、技术效果、攻击类型、特征类型、协议、地理信息等。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438255"/>
                  </a:ext>
                </a:extLst>
              </a:tr>
              <a:tr h="399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规则自定义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★★★支持美观易用的思维导图模式的解析规则界面自定义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提供丰富的解析规则支持模式，如正则、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Grok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、分隔符等。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183479"/>
                  </a:ext>
                </a:extLst>
              </a:tr>
              <a:tr h="32034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★★★支持解析规则性能以界面列表形式显示，可了解解析耗时、解析成功或失败次数等信息</a:t>
                      </a:r>
                      <a:endParaRPr lang="zh-CN" altLang="en-US" sz="8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969122"/>
                  </a:ext>
                </a:extLst>
              </a:tr>
              <a:tr h="399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日志过滤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★日志过滤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支持通过日志等级进行过滤；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支持自定义配置过滤规则，可用日志的所有属性作为过滤条件，将用户不关心的日志进行过滤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09709"/>
                  </a:ext>
                </a:extLst>
              </a:tr>
              <a:tr h="399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统计分析展示</a:t>
                      </a: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解决方案包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★★★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内置基础审计、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Windows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审计、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Linux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审计、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PCI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SOX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ISO27001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安全等解决方案包，实现了数据源、报表项、报表的界面自定义功能，可在界面快速实现个性化的统计定制需求。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不支持</a:t>
                      </a: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不支持</a:t>
                      </a:r>
                    </a:p>
                  </a:txBody>
                  <a:tcPr marL="2729" marR="2729" marT="2729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118160"/>
                  </a:ext>
                </a:extLst>
              </a:tr>
            </a:tbl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F81563B-174B-75B8-C6F6-081B2AE65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182931"/>
              </p:ext>
            </p:extLst>
          </p:nvPr>
        </p:nvGraphicFramePr>
        <p:xfrm>
          <a:off x="8191500" y="1405062"/>
          <a:ext cx="91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198" imgH="787400" progId="Excel.Sheet.12">
                  <p:embed/>
                </p:oleObj>
              </mc:Choice>
              <mc:Fallback>
                <p:oleObj name="Worksheet" showAsIcon="1" r:id="rId3" imgW="914198" imgH="787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1500" y="1405062"/>
                        <a:ext cx="91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733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46BEB8D-1346-C759-5325-4CED3E1E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充分利用现有虚拟化资源，仅采购软件许可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562790E-1AB9-34B8-D4FB-E0BA699B5FF3}"/>
              </a:ext>
            </a:extLst>
          </p:cNvPr>
          <p:cNvSpPr/>
          <p:nvPr/>
        </p:nvSpPr>
        <p:spPr>
          <a:xfrm>
            <a:off x="734138" y="627534"/>
            <a:ext cx="232569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一、虚拟机资源需求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B5C201DE-22AD-326C-194C-C0F1BF0C5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473309"/>
              </p:ext>
            </p:extLst>
          </p:nvPr>
        </p:nvGraphicFramePr>
        <p:xfrm>
          <a:off x="467544" y="993617"/>
          <a:ext cx="3600400" cy="1666295"/>
        </p:xfrm>
        <a:graphic>
          <a:graphicData uri="http://schemas.openxmlformats.org/drawingml/2006/table">
            <a:tbl>
              <a:tblPr/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203"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资源项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建议配置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说明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0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CPU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16 核及以上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满足日志解析处理需求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20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内存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≥ 32 GB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日志审计平台运行需求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20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系统盘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100 GB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操作系统及程序安装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0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数据盘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≥ 1 TB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日志数据存储，可扩容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虚拟化平台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VMware/</a:t>
                      </a:r>
                      <a:r>
                        <a:rPr lang="en-US" altLang="zh-CN" sz="11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Zstack</a:t>
                      </a:r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/Hyper-V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平台兼容性已确认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28DFA6-EB3B-121E-8302-6ABE2C325623}"/>
              </a:ext>
            </a:extLst>
          </p:cNvPr>
          <p:cNvGrpSpPr/>
          <p:nvPr/>
        </p:nvGrpSpPr>
        <p:grpSpPr>
          <a:xfrm>
            <a:off x="442309" y="2721809"/>
            <a:ext cx="3625635" cy="508000"/>
            <a:chOff x="442309" y="2960906"/>
            <a:chExt cx="3625635" cy="508000"/>
          </a:xfrm>
        </p:grpSpPr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07C70E94-3739-0279-0AF6-8D9A77093665}"/>
                </a:ext>
              </a:extLst>
            </p:cNvPr>
            <p:cNvSpPr/>
            <p:nvPr/>
          </p:nvSpPr>
          <p:spPr>
            <a:xfrm>
              <a:off x="442309" y="2960906"/>
              <a:ext cx="3625635" cy="508000"/>
            </a:xfrm>
            <a:prstGeom prst="rect">
              <a:avLst/>
            </a:prstGeom>
            <a:solidFill>
              <a:srgbClr val="1B3A5C">
                <a:alpha val="5098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CA8ED53F-9072-E35E-1E80-8B08E0EF79AE}"/>
                </a:ext>
              </a:extLst>
            </p:cNvPr>
            <p:cNvSpPr/>
            <p:nvPr/>
          </p:nvSpPr>
          <p:spPr>
            <a:xfrm>
              <a:off x="467544" y="2960906"/>
              <a:ext cx="36004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100" dirty="0">
                  <a:solidFill>
                    <a:srgbClr val="1B3A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💡 可利用公司现有虚拟化集群空闲资源，无需额外采购物理服务器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 5">
            <a:extLst>
              <a:ext uri="{FF2B5EF4-FFF2-40B4-BE49-F238E27FC236}">
                <a16:creationId xmlns:a16="http://schemas.microsoft.com/office/drawing/2014/main" id="{65F32DFB-FCBC-15ED-DCCB-5C968982FB56}"/>
              </a:ext>
            </a:extLst>
          </p:cNvPr>
          <p:cNvSpPr/>
          <p:nvPr/>
        </p:nvSpPr>
        <p:spPr>
          <a:xfrm>
            <a:off x="4860032" y="632447"/>
            <a:ext cx="3384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二、软件许可预算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D009E995-7F1B-F166-0897-A9EDB2F3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265332"/>
              </p:ext>
            </p:extLst>
          </p:nvPr>
        </p:nvGraphicFramePr>
        <p:xfrm>
          <a:off x="4860032" y="987574"/>
          <a:ext cx="3683000" cy="1066902"/>
        </p:xfrm>
        <a:graphic>
          <a:graphicData uri="http://schemas.openxmlformats.org/drawingml/2006/table">
            <a:tbl>
              <a:tblPr/>
              <a:tblGrid>
                <a:gridCol w="1162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988"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采购模式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参考价格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备注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17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纯软件永久授权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41E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¥10-15万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200个日志源永久授权+3年维保</a:t>
                      </a:r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免费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97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年度订阅模式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≈ ¥8万/年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华为</a:t>
                      </a:r>
                      <a:r>
                        <a:rPr lang="en-US" sz="1100" u="none" dirty="0" err="1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云商店官方价，按年订阅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6">
            <a:extLst>
              <a:ext uri="{FF2B5EF4-FFF2-40B4-BE49-F238E27FC236}">
                <a16:creationId xmlns:a16="http://schemas.microsoft.com/office/drawing/2014/main" id="{AFE264AC-F1E7-23BB-38BC-38CB9C9F22F6}"/>
              </a:ext>
            </a:extLst>
          </p:cNvPr>
          <p:cNvSpPr/>
          <p:nvPr/>
        </p:nvSpPr>
        <p:spPr>
          <a:xfrm>
            <a:off x="4860032" y="2067694"/>
            <a:ext cx="360293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三、</a:t>
            </a:r>
            <a:r>
              <a:rPr lang="en-US" b="1" dirty="0" err="1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市场参考依据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0D23117C-1F4B-A28B-33A6-AEAF15489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962709"/>
              </p:ext>
            </p:extLst>
          </p:nvPr>
        </p:nvGraphicFramePr>
        <p:xfrm>
          <a:off x="4860032" y="2355726"/>
          <a:ext cx="3683000" cy="1826260"/>
        </p:xfrm>
        <a:graphic>
          <a:graphicData uri="http://schemas.openxmlformats.org/drawingml/2006/table">
            <a:tbl>
              <a:tblPr/>
              <a:tblGrid>
                <a:gridCol w="1081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参考来源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采购内容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价格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江苏政府采购网（协议供货）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安恒信息综合日志审计</a:t>
                      </a:r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DAS-LOG-1900 200</a:t>
                      </a:r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个授权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¥17.4万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北京市消防救援总队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DAS-LOG-490 80</a:t>
                      </a:r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个授权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¥7.78</a:t>
                      </a:r>
                      <a:r>
                        <a:rPr lang="zh-CN" altLang="en-US" sz="1100" u="none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万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干诚能源供应链商城</a:t>
                      </a:r>
                      <a:endParaRPr lang="en-US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安恒DAS-LOG-180（20授权）</a:t>
                      </a:r>
                      <a:endParaRPr lang="en-US" altLang="zh-CN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约 ¥5-7万</a:t>
                      </a:r>
                      <a:endParaRPr lang="en-US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zh-CN" altLang="en-US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华为云官网</a:t>
                      </a:r>
                      <a:endParaRPr lang="en-US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安恒明御综合安恒日志审计平台软件许</a:t>
                      </a:r>
                      <a:r>
                        <a:rPr lang="en-US" altLang="zh-CN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200</a:t>
                      </a:r>
                      <a:r>
                        <a:rPr lang="zh-CN" altLang="en-US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个授权可一年</a:t>
                      </a:r>
                      <a:endParaRPr lang="en-US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kern="12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¥8.2万</a:t>
                      </a:r>
                      <a:endParaRPr lang="en-US" altLang="zh-CN" sz="1100" u="none" kern="1200" dirty="0">
                        <a:solidFill>
                          <a:srgbClr val="1E29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811"/>
                  </a:ext>
                </a:extLst>
              </a:tr>
            </a:tbl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D40941-C428-98B2-412E-7DB412FE2D30}"/>
              </a:ext>
            </a:extLst>
          </p:cNvPr>
          <p:cNvGrpSpPr/>
          <p:nvPr/>
        </p:nvGrpSpPr>
        <p:grpSpPr>
          <a:xfrm>
            <a:off x="446317" y="3219821"/>
            <a:ext cx="3621627" cy="1008113"/>
            <a:chOff x="521141" y="3950658"/>
            <a:chExt cx="8214871" cy="1386145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4A2184C3-6587-5401-8FAF-6E470083283E}"/>
                </a:ext>
              </a:extLst>
            </p:cNvPr>
            <p:cNvSpPr/>
            <p:nvPr/>
          </p:nvSpPr>
          <p:spPr>
            <a:xfrm>
              <a:off x="521142" y="4070454"/>
              <a:ext cx="8214870" cy="1266349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000000">
                  <a:alpha val="3922"/>
                </a:srgbClr>
              </a:outerShdw>
            </a:effec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E9AFD96E-D59F-1CA5-B4C4-F3543F898B8D}"/>
                </a:ext>
              </a:extLst>
            </p:cNvPr>
            <p:cNvSpPr/>
            <p:nvPr/>
          </p:nvSpPr>
          <p:spPr>
            <a:xfrm>
              <a:off x="521141" y="4070454"/>
              <a:ext cx="45719" cy="1266349"/>
            </a:xfrm>
            <a:prstGeom prst="rect">
              <a:avLst/>
            </a:prstGeom>
            <a:solidFill>
              <a:srgbClr val="C41E24"/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A049188E-CB15-DC76-972A-FE88809ACE14}"/>
                </a:ext>
              </a:extLst>
            </p:cNvPr>
            <p:cNvSpPr/>
            <p:nvPr/>
          </p:nvSpPr>
          <p:spPr>
            <a:xfrm>
              <a:off x="775143" y="3950658"/>
              <a:ext cx="7960869" cy="13861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70000"/>
                </a:lnSpc>
              </a:pPr>
              <a:r>
                <a:rPr lang="en-US" sz="800" b="1" dirty="0">
                  <a:solidFill>
                    <a:srgbClr val="C41E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分析说明：</a:t>
              </a:r>
              <a:r>
                <a:rPr lang="en-US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2022年DAS-LOG-1900（含硬件）中标价约17.4万元；2024-2025年同类型项目仍在持续推进采购，市场价格基本稳定。本次采购纯软件版（利用现有虚拟化资源）+ 200个授权点，若参考硬件同配置约15-18万元区间合理；</a:t>
              </a:r>
              <a:r>
                <a:rPr lang="zh-CN" altLang="en-US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扣除硬件成本（约</a:t>
              </a:r>
              <a:r>
                <a:rPr lang="en-US" altLang="zh-CN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15%-25%</a:t>
              </a:r>
              <a:r>
                <a:rPr lang="zh-CN" altLang="en-US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）后，</a:t>
              </a:r>
              <a:r>
                <a:rPr lang="en-US" altLang="zh-CN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200</a:t>
              </a:r>
              <a:r>
                <a:rPr lang="zh-CN" altLang="en-US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个授权点的纯软件版预计可控制在</a:t>
              </a:r>
              <a:r>
                <a:rPr lang="en-US" altLang="zh-CN" sz="800" dirty="0">
                  <a:solidFill>
                    <a:srgbClr val="A71E4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11</a:t>
              </a:r>
              <a:r>
                <a:rPr lang="zh-CN" altLang="en-US" sz="800" dirty="0">
                  <a:solidFill>
                    <a:srgbClr val="A71E4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万</a:t>
              </a:r>
              <a:r>
                <a:rPr lang="en-US" altLang="zh-CN" sz="800" dirty="0">
                  <a:solidFill>
                    <a:srgbClr val="A71E4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-14</a:t>
              </a:r>
              <a:r>
                <a:rPr lang="zh-CN" altLang="en-US" sz="800" dirty="0">
                  <a:solidFill>
                    <a:srgbClr val="A71E4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万元区间</a:t>
              </a:r>
              <a:r>
                <a:rPr lang="zh-CN" altLang="en-US" sz="800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。</a:t>
              </a:r>
              <a:endParaRPr 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BA294A1-D859-8FB1-2733-63D6714299EF}"/>
              </a:ext>
            </a:extLst>
          </p:cNvPr>
          <p:cNvGrpSpPr/>
          <p:nvPr/>
        </p:nvGrpSpPr>
        <p:grpSpPr>
          <a:xfrm>
            <a:off x="442309" y="4299942"/>
            <a:ext cx="8101671" cy="368394"/>
            <a:chOff x="442309" y="4363546"/>
            <a:chExt cx="8234148" cy="368394"/>
          </a:xfrm>
        </p:grpSpPr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F8C4AF73-42D5-2C72-A019-80CD8343DC4A}"/>
                </a:ext>
              </a:extLst>
            </p:cNvPr>
            <p:cNvSpPr/>
            <p:nvPr/>
          </p:nvSpPr>
          <p:spPr>
            <a:xfrm>
              <a:off x="442309" y="4363546"/>
              <a:ext cx="8234148" cy="368394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97C9C784-9BF4-04E1-46C4-FE27685397D1}"/>
                </a:ext>
              </a:extLst>
            </p:cNvPr>
            <p:cNvSpPr/>
            <p:nvPr/>
          </p:nvSpPr>
          <p:spPr>
            <a:xfrm>
              <a:off x="685864" y="4363546"/>
              <a:ext cx="7950211" cy="3683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100" b="1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本次采购</a:t>
              </a:r>
              <a:r>
                <a:rPr lang="zh-CN" altLang="en-US" sz="1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供应商报价</a:t>
              </a:r>
              <a:r>
                <a:rPr lang="en-US" sz="1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：¥</a:t>
              </a:r>
              <a:r>
                <a:rPr lang="en-US" sz="11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13</a:t>
              </a:r>
              <a:r>
                <a:rPr lang="en-US" sz="1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万元（含13%增值税专用发票，含3年原厂维保服务）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灯片编号占位符 3">
            <a:extLst>
              <a:ext uri="{FF2B5EF4-FFF2-40B4-BE49-F238E27FC236}">
                <a16:creationId xmlns:a16="http://schemas.microsoft.com/office/drawing/2014/main" id="{150DF510-ACC9-501A-1372-A564481CC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12</a:t>
            </a:fld>
            <a:endParaRPr lang="en-US" altLang="ja-JP" sz="1350" dirty="0"/>
          </a:p>
        </p:txBody>
      </p:sp>
      <p:sp>
        <p:nvSpPr>
          <p:cNvPr id="25" name="页脚占位符 4">
            <a:extLst>
              <a:ext uri="{FF2B5EF4-FFF2-40B4-BE49-F238E27FC236}">
                <a16:creationId xmlns:a16="http://schemas.microsoft.com/office/drawing/2014/main" id="{C360B486-4EE2-D3B8-C1D6-19AB7DF3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791268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990D705-3A0A-BDEB-3F4D-3248974D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供应商报价及比价表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CA3014-F20C-3770-2B8D-82851A4ED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13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3D67A9-DD4A-FCDA-0F32-C5634FB8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B2DAAC3-9369-A983-9334-923CC442D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43283"/>
              </p:ext>
            </p:extLst>
          </p:nvPr>
        </p:nvGraphicFramePr>
        <p:xfrm>
          <a:off x="827584" y="824802"/>
          <a:ext cx="6984776" cy="3259117"/>
        </p:xfrm>
        <a:graphic>
          <a:graphicData uri="http://schemas.openxmlformats.org/drawingml/2006/table">
            <a:tbl>
              <a:tblPr/>
              <a:tblGrid>
                <a:gridCol w="1560429">
                  <a:extLst>
                    <a:ext uri="{9D8B030D-6E8A-4147-A177-3AD203B41FA5}">
                      <a16:colId xmlns:a16="http://schemas.microsoft.com/office/drawing/2014/main" val="3984556632"/>
                    </a:ext>
                  </a:extLst>
                </a:gridCol>
                <a:gridCol w="1857653">
                  <a:extLst>
                    <a:ext uri="{9D8B030D-6E8A-4147-A177-3AD203B41FA5}">
                      <a16:colId xmlns:a16="http://schemas.microsoft.com/office/drawing/2014/main" val="59342074"/>
                    </a:ext>
                  </a:extLst>
                </a:gridCol>
                <a:gridCol w="1595962">
                  <a:extLst>
                    <a:ext uri="{9D8B030D-6E8A-4147-A177-3AD203B41FA5}">
                      <a16:colId xmlns:a16="http://schemas.microsoft.com/office/drawing/2014/main" val="1105239807"/>
                    </a:ext>
                  </a:extLst>
                </a:gridCol>
                <a:gridCol w="1970732">
                  <a:extLst>
                    <a:ext uri="{9D8B030D-6E8A-4147-A177-3AD203B41FA5}">
                      <a16:colId xmlns:a16="http://schemas.microsoft.com/office/drawing/2014/main" val="2587071479"/>
                    </a:ext>
                  </a:extLst>
                </a:gridCol>
              </a:tblGrid>
              <a:tr h="627427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100" b="1" u="none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供应商名称</a:t>
                      </a:r>
                      <a:endParaRPr lang="en-US" sz="1100" b="1" u="none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报价产品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pitchFamily="34" charset="-120"/>
                        </a:rPr>
                        <a:t>价格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Liter" charset="0"/>
                        </a:rPr>
                        <a:t>备注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04350"/>
                  </a:ext>
                </a:extLst>
              </a:tr>
              <a:tr h="877230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上海天哲计算机科技有限公司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DAS-LOG-1200-C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134246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永久，虚拟机部署，可自由扩展硬件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935677"/>
                  </a:ext>
                </a:extLst>
              </a:tr>
              <a:tr h="877230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安恒信息（原厂）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DAS-LOG-1200-C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160000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永久，虚拟机部署，可自由扩展硬件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11807"/>
                  </a:ext>
                </a:extLst>
              </a:tr>
              <a:tr h="877230"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华为云（原厂云服务）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DAS-LOG-1200-C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82,872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按年订阅，每年收费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94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6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BC6E1A2-B45E-C049-A2D7-C0516604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供应商部分资质证书展示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A3870-6E97-17DF-DFC5-9C9FA2B2D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860D7-74F8-45D8-912E-A25AA711B9F0}" type="slidenum">
              <a:rPr lang="en-US" altLang="ja-JP" smtClean="0"/>
              <a:t>14</a:t>
            </a:fld>
            <a:endParaRPr lang="en-US" altLang="ja-JP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E943B-54D7-E521-8C2C-10020047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>
                <a:latin typeface="微软雅黑" panose="020B0503020204020204" pitchFamily="34" charset="-122"/>
              </a:rPr>
              <a:t>RORZE </a:t>
            </a:r>
            <a:r>
              <a:rPr lang="en-US" altLang="zh-CN">
                <a:latin typeface="微软雅黑" panose="020B0503020204020204" pitchFamily="34" charset="-122"/>
              </a:rPr>
              <a:t>CREATECH</a:t>
            </a:r>
            <a:r>
              <a:rPr lang="en-US" altLang="ja-JP">
                <a:latin typeface="微软雅黑" panose="020B0503020204020204" pitchFamily="34" charset="-122"/>
              </a:rPr>
              <a:t> CO., LTD.</a:t>
            </a:r>
            <a:endParaRPr lang="en-US" altLang="ja-JP" dirty="0">
              <a:latin typeface="微软雅黑" panose="020B0503020204020204" pitchFamily="34" charset="-122"/>
            </a:endParaRPr>
          </a:p>
        </p:txBody>
      </p:sp>
      <p:pic>
        <p:nvPicPr>
          <p:cNvPr id="8" name="图片 7" descr="一些文字和图片的手机截图&#10;&#10;AI 生成的内容可能不正确。">
            <a:extLst>
              <a:ext uri="{FF2B5EF4-FFF2-40B4-BE49-F238E27FC236}">
                <a16:creationId xmlns:a16="http://schemas.microsoft.com/office/drawing/2014/main" id="{AAD76C29-F061-4051-88B4-F033E26F0F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267" y="845647"/>
            <a:ext cx="2404186" cy="33123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CF1471E-DF69-DB4B-AE8F-7F07E9351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873917"/>
            <a:ext cx="2387381" cy="33123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BA9EF6B-B241-BED0-00A5-9BBA9F5C6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853827"/>
            <a:ext cx="2407242" cy="34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74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7F6958-E5FF-0A7B-624D-64416398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纯软件部署，周期短、成本低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EE3DFB4-8C71-BC6C-D426-2F00C83AA9D6}"/>
              </a:ext>
            </a:extLst>
          </p:cNvPr>
          <p:cNvSpPr/>
          <p:nvPr/>
        </p:nvSpPr>
        <p:spPr>
          <a:xfrm>
            <a:off x="628115" y="627067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部署计划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E64ED45-72CC-7DEB-8145-4A1A2FBDD5F4}"/>
              </a:ext>
            </a:extLst>
          </p:cNvPr>
          <p:cNvGrpSpPr/>
          <p:nvPr/>
        </p:nvGrpSpPr>
        <p:grpSpPr>
          <a:xfrm>
            <a:off x="632408" y="1042101"/>
            <a:ext cx="7563385" cy="692150"/>
            <a:chOff x="762000" y="1778000"/>
            <a:chExt cx="14732000" cy="101600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2AD663BB-31BC-AB94-6567-745373FD5793}"/>
                </a:ext>
              </a:extLst>
            </p:cNvPr>
            <p:cNvSpPr/>
            <p:nvPr/>
          </p:nvSpPr>
          <p:spPr>
            <a:xfrm>
              <a:off x="762000" y="1778000"/>
              <a:ext cx="2159000" cy="1016000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7E670CD3-4AE4-3FBF-E3BA-31EBC3C3DD19}"/>
                </a:ext>
              </a:extLst>
            </p:cNvPr>
            <p:cNvSpPr/>
            <p:nvPr/>
          </p:nvSpPr>
          <p:spPr>
            <a:xfrm>
              <a:off x="762000" y="1778000"/>
              <a:ext cx="21590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采购审批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E0ECE365-EF14-9CEF-E3FC-708997C64A37}"/>
                </a:ext>
              </a:extLst>
            </p:cNvPr>
            <p:cNvSpPr/>
            <p:nvPr/>
          </p:nvSpPr>
          <p:spPr>
            <a:xfrm>
              <a:off x="2921000" y="2159000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1B3A5C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1FC0CE24-AC22-7CF1-8351-FE1F06DEE7D3}"/>
                </a:ext>
              </a:extLst>
            </p:cNvPr>
            <p:cNvSpPr/>
            <p:nvPr/>
          </p:nvSpPr>
          <p:spPr>
            <a:xfrm>
              <a:off x="3238500" y="1778000"/>
              <a:ext cx="2159000" cy="1016000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0F005DB0-241B-0852-BA0A-9A00DFA7E5F0}"/>
                </a:ext>
              </a:extLst>
            </p:cNvPr>
            <p:cNvSpPr/>
            <p:nvPr/>
          </p:nvSpPr>
          <p:spPr>
            <a:xfrm>
              <a:off x="3238500" y="1778000"/>
              <a:ext cx="21590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环境准备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2天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3B70A7B-CE0C-A433-2D9B-4AFD51148389}"/>
                </a:ext>
              </a:extLst>
            </p:cNvPr>
            <p:cNvSpPr/>
            <p:nvPr/>
          </p:nvSpPr>
          <p:spPr>
            <a:xfrm>
              <a:off x="5397500" y="2159000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1B3A5C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D2A9C36-39C3-9CD1-C45A-F2475A037C9B}"/>
                </a:ext>
              </a:extLst>
            </p:cNvPr>
            <p:cNvSpPr/>
            <p:nvPr/>
          </p:nvSpPr>
          <p:spPr>
            <a:xfrm>
              <a:off x="5715000" y="1778000"/>
              <a:ext cx="2159000" cy="1016000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B9B5468A-FCD3-DC4F-B7EE-88FEA7783D50}"/>
                </a:ext>
              </a:extLst>
            </p:cNvPr>
            <p:cNvSpPr/>
            <p:nvPr/>
          </p:nvSpPr>
          <p:spPr>
            <a:xfrm>
              <a:off x="5715000" y="1778000"/>
              <a:ext cx="21590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软件部署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1天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4BE5D567-EE7C-2092-1900-A47888BEA2A1}"/>
                </a:ext>
              </a:extLst>
            </p:cNvPr>
            <p:cNvSpPr/>
            <p:nvPr/>
          </p:nvSpPr>
          <p:spPr>
            <a:xfrm>
              <a:off x="7874000" y="2159000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1B3A5C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9B798609-FE75-7287-EBD1-0D90D5F5E8F9}"/>
                </a:ext>
              </a:extLst>
            </p:cNvPr>
            <p:cNvSpPr/>
            <p:nvPr/>
          </p:nvSpPr>
          <p:spPr>
            <a:xfrm>
              <a:off x="8191500" y="1778000"/>
              <a:ext cx="2159000" cy="1016000"/>
            </a:xfrm>
            <a:prstGeom prst="rect">
              <a:avLst/>
            </a:prstGeom>
            <a:solidFill>
              <a:srgbClr val="C41E24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D44DE641-7F1E-12D1-46AA-E14BC0B44234}"/>
                </a:ext>
              </a:extLst>
            </p:cNvPr>
            <p:cNvSpPr/>
            <p:nvPr/>
          </p:nvSpPr>
          <p:spPr>
            <a:xfrm>
              <a:off x="8191500" y="1778000"/>
              <a:ext cx="21590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日志接入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2周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DA7BA53-1698-2273-B869-32F876310B46}"/>
                </a:ext>
              </a:extLst>
            </p:cNvPr>
            <p:cNvSpPr/>
            <p:nvPr/>
          </p:nvSpPr>
          <p:spPr>
            <a:xfrm>
              <a:off x="10350500" y="2159000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1B3A5C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1B82364C-CCE5-1244-C672-B3FD353F5279}"/>
                </a:ext>
              </a:extLst>
            </p:cNvPr>
            <p:cNvSpPr/>
            <p:nvPr/>
          </p:nvSpPr>
          <p:spPr>
            <a:xfrm>
              <a:off x="10668000" y="1778000"/>
              <a:ext cx="2159000" cy="1016000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6872EF38-176A-BE14-F734-BDD44786CFFB}"/>
                </a:ext>
              </a:extLst>
            </p:cNvPr>
            <p:cNvSpPr/>
            <p:nvPr/>
          </p:nvSpPr>
          <p:spPr>
            <a:xfrm>
              <a:off x="10668000" y="1778000"/>
              <a:ext cx="21590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报表配置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</a:t>
              </a: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9B9E1122-18A9-F9B3-137D-4EB676831D9B}"/>
                </a:ext>
              </a:extLst>
            </p:cNvPr>
            <p:cNvSpPr/>
            <p:nvPr/>
          </p:nvSpPr>
          <p:spPr>
            <a:xfrm>
              <a:off x="12827000" y="2159000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1B3A5C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8030F98A-4A81-6E03-CE40-7AD7455585E5}"/>
                </a:ext>
              </a:extLst>
            </p:cNvPr>
            <p:cNvSpPr/>
            <p:nvPr/>
          </p:nvSpPr>
          <p:spPr>
            <a:xfrm>
              <a:off x="13144500" y="1778000"/>
              <a:ext cx="2349500" cy="1016000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E84A5776-0BB7-5AA6-CF8B-14D45C182D37}"/>
                </a:ext>
              </a:extLst>
            </p:cNvPr>
            <p:cNvSpPr/>
            <p:nvPr/>
          </p:nvSpPr>
          <p:spPr>
            <a:xfrm>
              <a:off x="13144500" y="1778000"/>
              <a:ext cx="2349500" cy="101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验收与培训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</a:t>
              </a: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F94EA70-08B9-D690-7A56-C5A14B0B7004}"/>
              </a:ext>
            </a:extLst>
          </p:cNvPr>
          <p:cNvGrpSpPr/>
          <p:nvPr/>
        </p:nvGrpSpPr>
        <p:grpSpPr>
          <a:xfrm>
            <a:off x="628115" y="1779662"/>
            <a:ext cx="1639629" cy="457200"/>
            <a:chOff x="632408" y="2184400"/>
            <a:chExt cx="3810000" cy="457200"/>
          </a:xfrm>
        </p:grpSpPr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3136C11A-7AD2-A31F-C845-BB2F6A8A63F3}"/>
                </a:ext>
              </a:extLst>
            </p:cNvPr>
            <p:cNvSpPr/>
            <p:nvPr/>
          </p:nvSpPr>
          <p:spPr>
            <a:xfrm>
              <a:off x="632408" y="2184400"/>
              <a:ext cx="3810000" cy="457200"/>
            </a:xfrm>
            <a:prstGeom prst="rect">
              <a:avLst/>
            </a:prstGeom>
            <a:solidFill>
              <a:srgbClr val="1B3A5C">
                <a:alpha val="5098"/>
              </a:srgbClr>
            </a:solidFill>
            <a:ln/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797474E5-EBD3-7207-6408-D85DB2D801B0}"/>
                </a:ext>
              </a:extLst>
            </p:cNvPr>
            <p:cNvSpPr/>
            <p:nvPr/>
          </p:nvSpPr>
          <p:spPr>
            <a:xfrm>
              <a:off x="822908" y="2184400"/>
              <a:ext cx="3429000" cy="457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b="1" dirty="0">
                  <a:solidFill>
                    <a:srgbClr val="1B3A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预计总周期：约5周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 22">
            <a:extLst>
              <a:ext uri="{FF2B5EF4-FFF2-40B4-BE49-F238E27FC236}">
                <a16:creationId xmlns:a16="http://schemas.microsoft.com/office/drawing/2014/main" id="{6909EFEE-F588-F8A6-0C3E-B85782B50A19}"/>
              </a:ext>
            </a:extLst>
          </p:cNvPr>
          <p:cNvSpPr/>
          <p:nvPr/>
        </p:nvSpPr>
        <p:spPr>
          <a:xfrm>
            <a:off x="632408" y="221171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预期效果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3206672-31B2-A4B9-1776-EAD113EC1032}"/>
              </a:ext>
            </a:extLst>
          </p:cNvPr>
          <p:cNvGrpSpPr/>
          <p:nvPr/>
        </p:nvGrpSpPr>
        <p:grpSpPr>
          <a:xfrm>
            <a:off x="637643" y="2531246"/>
            <a:ext cx="7750782" cy="1985185"/>
            <a:chOff x="-204416" y="3391693"/>
            <a:chExt cx="14732000" cy="38735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C4E7CF96-A815-151E-9980-B1A07312806B}"/>
                </a:ext>
              </a:extLst>
            </p:cNvPr>
            <p:cNvGrpSpPr/>
            <p:nvPr/>
          </p:nvGrpSpPr>
          <p:grpSpPr>
            <a:xfrm>
              <a:off x="-204416" y="3391693"/>
              <a:ext cx="4699000" cy="1778000"/>
              <a:chOff x="-204416" y="3391693"/>
              <a:chExt cx="4699000" cy="1778000"/>
            </a:xfrm>
          </p:grpSpPr>
          <p:sp>
            <p:nvSpPr>
              <p:cNvPr id="29" name="Shape 23">
                <a:extLst>
                  <a:ext uri="{FF2B5EF4-FFF2-40B4-BE49-F238E27FC236}">
                    <a16:creationId xmlns:a16="http://schemas.microsoft.com/office/drawing/2014/main" id="{C9980F3E-DFAE-83E1-257C-97C824895C7F}"/>
                  </a:ext>
                </a:extLst>
              </p:cNvPr>
              <p:cNvSpPr/>
              <p:nvPr/>
            </p:nvSpPr>
            <p:spPr>
              <a:xfrm>
                <a:off x="-204416" y="3391693"/>
                <a:ext cx="4699000" cy="177800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000000">
                    <a:alpha val="3922"/>
                  </a:srgbClr>
                </a:outerShdw>
              </a:effectLst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Shape 24">
                <a:extLst>
                  <a:ext uri="{FF2B5EF4-FFF2-40B4-BE49-F238E27FC236}">
                    <a16:creationId xmlns:a16="http://schemas.microsoft.com/office/drawing/2014/main" id="{077A150F-0EB3-4C8C-6774-47FA990904FD}"/>
                  </a:ext>
                </a:extLst>
              </p:cNvPr>
              <p:cNvSpPr/>
              <p:nvPr/>
            </p:nvSpPr>
            <p:spPr>
              <a:xfrm>
                <a:off x="49584" y="3582193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203200" y="0"/>
                    </a:moveTo>
                    <a:cubicBezTo>
                      <a:pt x="206851" y="0"/>
                      <a:pt x="210503" y="794"/>
                      <a:pt x="213836" y="2302"/>
                    </a:cubicBezTo>
                    <a:lnTo>
                      <a:pt x="363379" y="65723"/>
                    </a:lnTo>
                    <a:cubicBezTo>
                      <a:pt x="380841" y="73104"/>
                      <a:pt x="393859" y="90329"/>
                      <a:pt x="393779" y="111125"/>
                    </a:cubicBezTo>
                    <a:cubicBezTo>
                      <a:pt x="393383" y="189865"/>
                      <a:pt x="360998" y="333931"/>
                      <a:pt x="224234" y="399415"/>
                    </a:cubicBezTo>
                    <a:cubicBezTo>
                      <a:pt x="210979" y="405765"/>
                      <a:pt x="195580" y="405765"/>
                      <a:pt x="182324" y="399415"/>
                    </a:cubicBezTo>
                    <a:cubicBezTo>
                      <a:pt x="45482" y="333931"/>
                      <a:pt x="13176" y="189865"/>
                      <a:pt x="12779" y="111125"/>
                    </a:cubicBezTo>
                    <a:cubicBezTo>
                      <a:pt x="12700" y="90329"/>
                      <a:pt x="25717" y="73104"/>
                      <a:pt x="43180" y="65723"/>
                    </a:cubicBezTo>
                    <a:lnTo>
                      <a:pt x="192643" y="2302"/>
                    </a:lnTo>
                    <a:cubicBezTo>
                      <a:pt x="195977" y="794"/>
                      <a:pt x="199549" y="0"/>
                      <a:pt x="203200" y="0"/>
                    </a:cubicBezTo>
                    <a:close/>
                    <a:moveTo>
                      <a:pt x="203200" y="53022"/>
                    </a:moveTo>
                    <a:lnTo>
                      <a:pt x="203200" y="353139"/>
                    </a:lnTo>
                    <a:cubicBezTo>
                      <a:pt x="312738" y="300117"/>
                      <a:pt x="342186" y="182642"/>
                      <a:pt x="342900" y="112316"/>
                    </a:cubicBezTo>
                    <a:lnTo>
                      <a:pt x="203200" y="53102"/>
                    </a:lnTo>
                    <a:lnTo>
                      <a:pt x="203200" y="53102"/>
                    </a:lnTo>
                    <a:close/>
                  </a:path>
                </a:pathLst>
              </a:custGeom>
              <a:solidFill>
                <a:srgbClr val="C41E24"/>
              </a:solidFill>
              <a:ln/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Text 25">
                <a:extLst>
                  <a:ext uri="{FF2B5EF4-FFF2-40B4-BE49-F238E27FC236}">
                    <a16:creationId xmlns:a16="http://schemas.microsoft.com/office/drawing/2014/main" id="{AB535250-B737-4C93-C0E1-7326B720D7D7}"/>
                  </a:ext>
                </a:extLst>
              </p:cNvPr>
              <p:cNvSpPr/>
              <p:nvPr/>
            </p:nvSpPr>
            <p:spPr>
              <a:xfrm>
                <a:off x="582984" y="3582193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050" b="1" dirty="0">
                    <a:solidFill>
                      <a:srgbClr val="1B3A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合规性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Text 26">
                <a:extLst>
                  <a:ext uri="{FF2B5EF4-FFF2-40B4-BE49-F238E27FC236}">
                    <a16:creationId xmlns:a16="http://schemas.microsoft.com/office/drawing/2014/main" id="{C457973A-9504-1A7E-3CA3-CD93F8FF54AD}"/>
                  </a:ext>
                </a:extLst>
              </p:cNvPr>
              <p:cNvSpPr/>
              <p:nvPr/>
            </p:nvSpPr>
            <p:spPr>
              <a:xfrm>
                <a:off x="49584" y="4090193"/>
                <a:ext cx="4191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050" dirty="0">
                    <a:solidFill>
                      <a:srgbClr val="1E293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完全满足ISO 27001 A.8.15/A.8.16要求，支撑年度监督审核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0F84EA1C-94FB-2A18-6168-1815063057BD}"/>
                </a:ext>
              </a:extLst>
            </p:cNvPr>
            <p:cNvGrpSpPr/>
            <p:nvPr/>
          </p:nvGrpSpPr>
          <p:grpSpPr>
            <a:xfrm>
              <a:off x="4907036" y="3391693"/>
              <a:ext cx="4699000" cy="1778000"/>
              <a:chOff x="4907036" y="3391693"/>
              <a:chExt cx="4699000" cy="1778000"/>
            </a:xfrm>
          </p:grpSpPr>
          <p:sp>
            <p:nvSpPr>
              <p:cNvPr id="33" name="Shape 27">
                <a:extLst>
                  <a:ext uri="{FF2B5EF4-FFF2-40B4-BE49-F238E27FC236}">
                    <a16:creationId xmlns:a16="http://schemas.microsoft.com/office/drawing/2014/main" id="{D84A78F2-3528-3F59-CDCB-AEC013F2797F}"/>
                  </a:ext>
                </a:extLst>
              </p:cNvPr>
              <p:cNvSpPr/>
              <p:nvPr/>
            </p:nvSpPr>
            <p:spPr>
              <a:xfrm>
                <a:off x="4907036" y="3391693"/>
                <a:ext cx="4699000" cy="177800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000000">
                    <a:alpha val="3922"/>
                  </a:srgbClr>
                </a:outerShdw>
              </a:effectLst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Shape 28">
                <a:extLst>
                  <a:ext uri="{FF2B5EF4-FFF2-40B4-BE49-F238E27FC236}">
                    <a16:creationId xmlns:a16="http://schemas.microsoft.com/office/drawing/2014/main" id="{67FDAD19-421B-F4D7-FF2D-7B5C7686A843}"/>
                  </a:ext>
                </a:extLst>
              </p:cNvPr>
              <p:cNvSpPr/>
              <p:nvPr/>
            </p:nvSpPr>
            <p:spPr>
              <a:xfrm>
                <a:off x="5066084" y="3582193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330200" y="165100"/>
                    </a:moveTo>
                    <a:cubicBezTo>
                      <a:pt x="330200" y="201533"/>
                      <a:pt x="318373" y="235188"/>
                      <a:pt x="298450" y="262493"/>
                    </a:cubicBezTo>
                    <a:lnTo>
                      <a:pt x="398939" y="363061"/>
                    </a:lnTo>
                    <a:cubicBezTo>
                      <a:pt x="408861" y="372983"/>
                      <a:pt x="408861" y="389096"/>
                      <a:pt x="398939" y="399018"/>
                    </a:cubicBezTo>
                    <a:cubicBezTo>
                      <a:pt x="389017" y="408940"/>
                      <a:pt x="372904" y="408940"/>
                      <a:pt x="362982" y="399018"/>
                    </a:cubicBezTo>
                    <a:lnTo>
                      <a:pt x="262493" y="298450"/>
                    </a:lnTo>
                    <a:cubicBezTo>
                      <a:pt x="235188" y="318373"/>
                      <a:pt x="201533" y="330200"/>
                      <a:pt x="165100" y="330200"/>
                    </a:cubicBezTo>
                    <a:cubicBezTo>
                      <a:pt x="73898" y="330200"/>
                      <a:pt x="0" y="256302"/>
                      <a:pt x="0" y="165100"/>
                    </a:cubicBezTo>
                    <a:cubicBezTo>
                      <a:pt x="0" y="73898"/>
                      <a:pt x="73898" y="0"/>
                      <a:pt x="165100" y="0"/>
                    </a:cubicBezTo>
                    <a:cubicBezTo>
                      <a:pt x="256302" y="0"/>
                      <a:pt x="330200" y="73898"/>
                      <a:pt x="330200" y="165100"/>
                    </a:cubicBezTo>
                    <a:close/>
                    <a:moveTo>
                      <a:pt x="82550" y="171450"/>
                    </a:moveTo>
                    <a:lnTo>
                      <a:pt x="82550" y="222250"/>
                    </a:lnTo>
                    <a:cubicBezTo>
                      <a:pt x="82550" y="232807"/>
                      <a:pt x="91043" y="241300"/>
                      <a:pt x="101600" y="241300"/>
                    </a:cubicBezTo>
                    <a:cubicBezTo>
                      <a:pt x="112157" y="241300"/>
                      <a:pt x="120650" y="232807"/>
                      <a:pt x="120650" y="222250"/>
                    </a:cubicBezTo>
                    <a:lnTo>
                      <a:pt x="120650" y="171450"/>
                    </a:lnTo>
                    <a:cubicBezTo>
                      <a:pt x="120650" y="160893"/>
                      <a:pt x="112157" y="152400"/>
                      <a:pt x="101600" y="152400"/>
                    </a:cubicBezTo>
                    <a:cubicBezTo>
                      <a:pt x="91043" y="152400"/>
                      <a:pt x="82550" y="160893"/>
                      <a:pt x="82550" y="171450"/>
                    </a:cubicBezTo>
                    <a:close/>
                    <a:moveTo>
                      <a:pt x="146050" y="95250"/>
                    </a:moveTo>
                    <a:lnTo>
                      <a:pt x="146050" y="222250"/>
                    </a:lnTo>
                    <a:cubicBezTo>
                      <a:pt x="146050" y="232807"/>
                      <a:pt x="154543" y="241300"/>
                      <a:pt x="165100" y="241300"/>
                    </a:cubicBezTo>
                    <a:cubicBezTo>
                      <a:pt x="175657" y="241300"/>
                      <a:pt x="184150" y="232807"/>
                      <a:pt x="184150" y="222250"/>
                    </a:cubicBezTo>
                    <a:lnTo>
                      <a:pt x="184150" y="95250"/>
                    </a:lnTo>
                    <a:cubicBezTo>
                      <a:pt x="184150" y="84693"/>
                      <a:pt x="175657" y="76200"/>
                      <a:pt x="165100" y="76200"/>
                    </a:cubicBezTo>
                    <a:cubicBezTo>
                      <a:pt x="154543" y="76200"/>
                      <a:pt x="146050" y="84693"/>
                      <a:pt x="146050" y="95250"/>
                    </a:cubicBezTo>
                    <a:close/>
                    <a:moveTo>
                      <a:pt x="209550" y="146050"/>
                    </a:moveTo>
                    <a:lnTo>
                      <a:pt x="209550" y="222250"/>
                    </a:lnTo>
                    <a:cubicBezTo>
                      <a:pt x="209550" y="232807"/>
                      <a:pt x="218043" y="241300"/>
                      <a:pt x="228600" y="241300"/>
                    </a:cubicBezTo>
                    <a:cubicBezTo>
                      <a:pt x="239157" y="241300"/>
                      <a:pt x="247650" y="232807"/>
                      <a:pt x="247650" y="222250"/>
                    </a:cubicBezTo>
                    <a:lnTo>
                      <a:pt x="247650" y="146050"/>
                    </a:lnTo>
                    <a:cubicBezTo>
                      <a:pt x="247650" y="135493"/>
                      <a:pt x="239157" y="127000"/>
                      <a:pt x="228600" y="127000"/>
                    </a:cubicBezTo>
                    <a:cubicBezTo>
                      <a:pt x="218043" y="127000"/>
                      <a:pt x="209550" y="135493"/>
                      <a:pt x="209550" y="146050"/>
                    </a:cubicBezTo>
                    <a:close/>
                  </a:path>
                </a:pathLst>
              </a:custGeom>
              <a:solidFill>
                <a:srgbClr val="C41E24"/>
              </a:solidFill>
              <a:ln/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Text 29">
                <a:extLst>
                  <a:ext uri="{FF2B5EF4-FFF2-40B4-BE49-F238E27FC236}">
                    <a16:creationId xmlns:a16="http://schemas.microsoft.com/office/drawing/2014/main" id="{92B20CD8-E3E6-C64A-68A8-49F223EBA9F2}"/>
                  </a:ext>
                </a:extLst>
              </p:cNvPr>
              <p:cNvSpPr/>
              <p:nvPr/>
            </p:nvSpPr>
            <p:spPr>
              <a:xfrm>
                <a:off x="5599484" y="3582193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050" b="1" dirty="0">
                    <a:solidFill>
                      <a:srgbClr val="1B3A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审计效率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30">
                <a:extLst>
                  <a:ext uri="{FF2B5EF4-FFF2-40B4-BE49-F238E27FC236}">
                    <a16:creationId xmlns:a16="http://schemas.microsoft.com/office/drawing/2014/main" id="{82BDEE50-7B12-D277-B9AC-47AF7D0165BD}"/>
                  </a:ext>
                </a:extLst>
              </p:cNvPr>
              <p:cNvSpPr/>
              <p:nvPr/>
            </p:nvSpPr>
            <p:spPr>
              <a:xfrm>
                <a:off x="5066084" y="4090193"/>
                <a:ext cx="4191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050" dirty="0">
                    <a:solidFill>
                      <a:srgbClr val="1E293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日志查询从"逐台登录grep"变为"一站式秒级检索"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38BFC493-24D4-B223-182A-3C1FCC783C5A}"/>
                </a:ext>
              </a:extLst>
            </p:cNvPr>
            <p:cNvGrpSpPr/>
            <p:nvPr/>
          </p:nvGrpSpPr>
          <p:grpSpPr>
            <a:xfrm>
              <a:off x="9828584" y="3391693"/>
              <a:ext cx="4699000" cy="1778000"/>
              <a:chOff x="9828584" y="3391693"/>
              <a:chExt cx="4699000" cy="1778000"/>
            </a:xfrm>
          </p:grpSpPr>
          <p:sp>
            <p:nvSpPr>
              <p:cNvPr id="37" name="Shape 31">
                <a:extLst>
                  <a:ext uri="{FF2B5EF4-FFF2-40B4-BE49-F238E27FC236}">
                    <a16:creationId xmlns:a16="http://schemas.microsoft.com/office/drawing/2014/main" id="{694869A4-0F36-0F74-B9C8-9B3B85FF510A}"/>
                  </a:ext>
                </a:extLst>
              </p:cNvPr>
              <p:cNvSpPr/>
              <p:nvPr/>
            </p:nvSpPr>
            <p:spPr>
              <a:xfrm>
                <a:off x="9828584" y="3391693"/>
                <a:ext cx="4699000" cy="177800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000000">
                    <a:alpha val="3922"/>
                  </a:srgbClr>
                </a:outerShdw>
              </a:effectLst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Shape 32">
                <a:extLst>
                  <a:ext uri="{FF2B5EF4-FFF2-40B4-BE49-F238E27FC236}">
                    <a16:creationId xmlns:a16="http://schemas.microsoft.com/office/drawing/2014/main" id="{AB2B7C5B-A644-325A-280A-CC087322799B}"/>
                  </a:ext>
                </a:extLst>
              </p:cNvPr>
              <p:cNvSpPr/>
              <p:nvPr/>
            </p:nvSpPr>
            <p:spPr>
              <a:xfrm>
                <a:off x="10107984" y="3582193"/>
                <a:ext cx="3556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406400">
                    <a:moveTo>
                      <a:pt x="177800" y="0"/>
                    </a:moveTo>
                    <a:cubicBezTo>
                      <a:pt x="163751" y="0"/>
                      <a:pt x="152400" y="11351"/>
                      <a:pt x="152400" y="25400"/>
                    </a:cubicBezTo>
                    <a:lnTo>
                      <a:pt x="152400" y="27940"/>
                    </a:lnTo>
                    <a:cubicBezTo>
                      <a:pt x="94456" y="39688"/>
                      <a:pt x="50800" y="90964"/>
                      <a:pt x="50800" y="152400"/>
                    </a:cubicBezTo>
                    <a:lnTo>
                      <a:pt x="50800" y="169624"/>
                    </a:lnTo>
                    <a:cubicBezTo>
                      <a:pt x="50800" y="207804"/>
                      <a:pt x="37783" y="244872"/>
                      <a:pt x="13970" y="274717"/>
                    </a:cubicBezTo>
                    <a:lnTo>
                      <a:pt x="6191" y="284401"/>
                    </a:lnTo>
                    <a:cubicBezTo>
                      <a:pt x="2143" y="289401"/>
                      <a:pt x="0" y="295592"/>
                      <a:pt x="0" y="302022"/>
                    </a:cubicBezTo>
                    <a:cubicBezTo>
                      <a:pt x="0" y="317579"/>
                      <a:pt x="12621" y="330200"/>
                      <a:pt x="28178" y="330200"/>
                    </a:cubicBezTo>
                    <a:lnTo>
                      <a:pt x="327343" y="330200"/>
                    </a:lnTo>
                    <a:cubicBezTo>
                      <a:pt x="342900" y="330200"/>
                      <a:pt x="355521" y="317579"/>
                      <a:pt x="355521" y="302022"/>
                    </a:cubicBezTo>
                    <a:cubicBezTo>
                      <a:pt x="355521" y="295592"/>
                      <a:pt x="353378" y="289401"/>
                      <a:pt x="349329" y="284401"/>
                    </a:cubicBezTo>
                    <a:lnTo>
                      <a:pt x="341551" y="274717"/>
                    </a:lnTo>
                    <a:cubicBezTo>
                      <a:pt x="317818" y="244872"/>
                      <a:pt x="304800" y="207804"/>
                      <a:pt x="304800" y="169624"/>
                    </a:cubicBezTo>
                    <a:lnTo>
                      <a:pt x="304800" y="152400"/>
                    </a:lnTo>
                    <a:cubicBezTo>
                      <a:pt x="304800" y="90964"/>
                      <a:pt x="261144" y="39688"/>
                      <a:pt x="203200" y="27940"/>
                    </a:cubicBezTo>
                    <a:lnTo>
                      <a:pt x="203200" y="25400"/>
                    </a:lnTo>
                    <a:cubicBezTo>
                      <a:pt x="203200" y="11351"/>
                      <a:pt x="191849" y="0"/>
                      <a:pt x="177800" y="0"/>
                    </a:cubicBezTo>
                    <a:close/>
                    <a:moveTo>
                      <a:pt x="128588" y="368300"/>
                    </a:moveTo>
                    <a:cubicBezTo>
                      <a:pt x="134223" y="390208"/>
                      <a:pt x="154146" y="406400"/>
                      <a:pt x="177800" y="406400"/>
                    </a:cubicBezTo>
                    <a:cubicBezTo>
                      <a:pt x="201454" y="406400"/>
                      <a:pt x="221377" y="390208"/>
                      <a:pt x="227013" y="368300"/>
                    </a:cubicBezTo>
                    <a:lnTo>
                      <a:pt x="128588" y="368300"/>
                    </a:lnTo>
                    <a:close/>
                  </a:path>
                </a:pathLst>
              </a:custGeom>
              <a:solidFill>
                <a:srgbClr val="C41E24"/>
              </a:solidFill>
              <a:ln/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Text 33">
                <a:extLst>
                  <a:ext uri="{FF2B5EF4-FFF2-40B4-BE49-F238E27FC236}">
                    <a16:creationId xmlns:a16="http://schemas.microsoft.com/office/drawing/2014/main" id="{C740D7FE-74BD-F7EC-9867-8A08963F107B}"/>
                  </a:ext>
                </a:extLst>
              </p:cNvPr>
              <p:cNvSpPr/>
              <p:nvPr/>
            </p:nvSpPr>
            <p:spPr>
              <a:xfrm>
                <a:off x="10615984" y="3582193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050" b="1" dirty="0">
                    <a:solidFill>
                      <a:srgbClr val="1B3A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风险发现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Text 34">
                <a:extLst>
                  <a:ext uri="{FF2B5EF4-FFF2-40B4-BE49-F238E27FC236}">
                    <a16:creationId xmlns:a16="http://schemas.microsoft.com/office/drawing/2014/main" id="{DEE4CE4C-C165-37CF-1DE6-CE2058E2DD09}"/>
                  </a:ext>
                </a:extLst>
              </p:cNvPr>
              <p:cNvSpPr/>
              <p:nvPr/>
            </p:nvSpPr>
            <p:spPr>
              <a:xfrm>
                <a:off x="10082584" y="4090193"/>
                <a:ext cx="4191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050" dirty="0">
                    <a:solidFill>
                      <a:srgbClr val="1E293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实时告警可提前发现异常行为，降低安全事件影响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A45D103-A5D6-A519-C3F2-E4C601BE0392}"/>
                </a:ext>
              </a:extLst>
            </p:cNvPr>
            <p:cNvGrpSpPr/>
            <p:nvPr/>
          </p:nvGrpSpPr>
          <p:grpSpPr>
            <a:xfrm>
              <a:off x="-204416" y="5487193"/>
              <a:ext cx="9715500" cy="1778000"/>
              <a:chOff x="-204416" y="5487193"/>
              <a:chExt cx="9715500" cy="1778000"/>
            </a:xfrm>
          </p:grpSpPr>
          <p:sp>
            <p:nvSpPr>
              <p:cNvPr id="41" name="Shape 35">
                <a:extLst>
                  <a:ext uri="{FF2B5EF4-FFF2-40B4-BE49-F238E27FC236}">
                    <a16:creationId xmlns:a16="http://schemas.microsoft.com/office/drawing/2014/main" id="{D84A2108-DE85-95FF-C1EF-6C252C406248}"/>
                  </a:ext>
                </a:extLst>
              </p:cNvPr>
              <p:cNvSpPr/>
              <p:nvPr/>
            </p:nvSpPr>
            <p:spPr>
              <a:xfrm>
                <a:off x="-204416" y="5487193"/>
                <a:ext cx="4699000" cy="177800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000000">
                    <a:alpha val="3922"/>
                  </a:srgbClr>
                </a:outerShdw>
              </a:effectLst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Shape 36">
                <a:extLst>
                  <a:ext uri="{FF2B5EF4-FFF2-40B4-BE49-F238E27FC236}">
                    <a16:creationId xmlns:a16="http://schemas.microsoft.com/office/drawing/2014/main" id="{9A44B3B7-CDDC-7B69-4DD2-90836E337FDD}"/>
                  </a:ext>
                </a:extLst>
              </p:cNvPr>
              <p:cNvSpPr/>
              <p:nvPr/>
            </p:nvSpPr>
            <p:spPr>
              <a:xfrm>
                <a:off x="100384" y="5677693"/>
                <a:ext cx="304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6400">
                    <a:moveTo>
                      <a:pt x="0" y="50800"/>
                    </a:moveTo>
                    <a:cubicBezTo>
                      <a:pt x="0" y="22781"/>
                      <a:pt x="22781" y="0"/>
                      <a:pt x="50800" y="0"/>
                    </a:cubicBezTo>
                    <a:lnTo>
                      <a:pt x="169466" y="0"/>
                    </a:lnTo>
                    <a:cubicBezTo>
                      <a:pt x="182959" y="0"/>
                      <a:pt x="195898" y="5318"/>
                      <a:pt x="205423" y="14843"/>
                    </a:cubicBezTo>
                    <a:lnTo>
                      <a:pt x="289957" y="99457"/>
                    </a:lnTo>
                    <a:cubicBezTo>
                      <a:pt x="299482" y="108982"/>
                      <a:pt x="304800" y="121920"/>
                      <a:pt x="304800" y="135414"/>
                    </a:cubicBezTo>
                    <a:lnTo>
                      <a:pt x="304800" y="355600"/>
                    </a:lnTo>
                    <a:cubicBezTo>
                      <a:pt x="304800" y="383619"/>
                      <a:pt x="282019" y="406400"/>
                      <a:pt x="254000" y="406400"/>
                    </a:cubicBezTo>
                    <a:lnTo>
                      <a:pt x="50800" y="406400"/>
                    </a:lnTo>
                    <a:cubicBezTo>
                      <a:pt x="22781" y="406400"/>
                      <a:pt x="0" y="383619"/>
                      <a:pt x="0" y="355600"/>
                    </a:cubicBezTo>
                    <a:lnTo>
                      <a:pt x="0" y="50800"/>
                    </a:lnTo>
                    <a:close/>
                    <a:moveTo>
                      <a:pt x="165100" y="46434"/>
                    </a:moveTo>
                    <a:lnTo>
                      <a:pt x="165100" y="120650"/>
                    </a:lnTo>
                    <a:cubicBezTo>
                      <a:pt x="165100" y="131207"/>
                      <a:pt x="173593" y="139700"/>
                      <a:pt x="184150" y="139700"/>
                    </a:cubicBezTo>
                    <a:lnTo>
                      <a:pt x="258366" y="139700"/>
                    </a:lnTo>
                    <a:lnTo>
                      <a:pt x="165100" y="46434"/>
                    </a:lnTo>
                    <a:close/>
                    <a:moveTo>
                      <a:pt x="95250" y="203200"/>
                    </a:moveTo>
                    <a:cubicBezTo>
                      <a:pt x="84693" y="203200"/>
                      <a:pt x="76200" y="211693"/>
                      <a:pt x="76200" y="222250"/>
                    </a:cubicBezTo>
                    <a:cubicBezTo>
                      <a:pt x="76200" y="232807"/>
                      <a:pt x="84693" y="241300"/>
                      <a:pt x="95250" y="241300"/>
                    </a:cubicBezTo>
                    <a:lnTo>
                      <a:pt x="209550" y="241300"/>
                    </a:lnTo>
                    <a:cubicBezTo>
                      <a:pt x="220107" y="241300"/>
                      <a:pt x="228600" y="232807"/>
                      <a:pt x="228600" y="222250"/>
                    </a:cubicBezTo>
                    <a:cubicBezTo>
                      <a:pt x="228600" y="211693"/>
                      <a:pt x="220107" y="203200"/>
                      <a:pt x="209550" y="203200"/>
                    </a:cubicBezTo>
                    <a:lnTo>
                      <a:pt x="95250" y="203200"/>
                    </a:lnTo>
                    <a:close/>
                    <a:moveTo>
                      <a:pt x="95250" y="279400"/>
                    </a:moveTo>
                    <a:cubicBezTo>
                      <a:pt x="84693" y="279400"/>
                      <a:pt x="76200" y="287893"/>
                      <a:pt x="76200" y="298450"/>
                    </a:cubicBezTo>
                    <a:cubicBezTo>
                      <a:pt x="76200" y="309007"/>
                      <a:pt x="84693" y="317500"/>
                      <a:pt x="95250" y="317500"/>
                    </a:cubicBezTo>
                    <a:lnTo>
                      <a:pt x="209550" y="317500"/>
                    </a:lnTo>
                    <a:cubicBezTo>
                      <a:pt x="220107" y="317500"/>
                      <a:pt x="228600" y="309007"/>
                      <a:pt x="228600" y="298450"/>
                    </a:cubicBezTo>
                    <a:cubicBezTo>
                      <a:pt x="228600" y="287893"/>
                      <a:pt x="220107" y="279400"/>
                      <a:pt x="209550" y="279400"/>
                    </a:cubicBezTo>
                    <a:lnTo>
                      <a:pt x="95250" y="279400"/>
                    </a:lnTo>
                    <a:close/>
                  </a:path>
                </a:pathLst>
              </a:custGeom>
              <a:solidFill>
                <a:srgbClr val="C41E24"/>
              </a:solidFill>
              <a:ln/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 37">
                <a:extLst>
                  <a:ext uri="{FF2B5EF4-FFF2-40B4-BE49-F238E27FC236}">
                    <a16:creationId xmlns:a16="http://schemas.microsoft.com/office/drawing/2014/main" id="{6F999005-71BF-81DE-585B-07630443A278}"/>
                  </a:ext>
                </a:extLst>
              </p:cNvPr>
              <p:cNvSpPr/>
              <p:nvPr/>
            </p:nvSpPr>
            <p:spPr>
              <a:xfrm>
                <a:off x="582984" y="5677693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050" b="1" dirty="0">
                    <a:solidFill>
                      <a:srgbClr val="1B3A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总部审计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38">
                <a:extLst>
                  <a:ext uri="{FF2B5EF4-FFF2-40B4-BE49-F238E27FC236}">
                    <a16:creationId xmlns:a16="http://schemas.microsoft.com/office/drawing/2014/main" id="{1D545D44-B4B4-E2D9-4773-4E5C248D7F98}"/>
                  </a:ext>
                </a:extLst>
              </p:cNvPr>
              <p:cNvSpPr/>
              <p:nvPr/>
            </p:nvSpPr>
            <p:spPr>
              <a:xfrm>
                <a:off x="49584" y="6185693"/>
                <a:ext cx="4191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050" dirty="0">
                    <a:solidFill>
                      <a:srgbClr val="1E293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可随时导出符合要求的审计报表，应对总部检查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Shape 39">
                <a:extLst>
                  <a:ext uri="{FF2B5EF4-FFF2-40B4-BE49-F238E27FC236}">
                    <a16:creationId xmlns:a16="http://schemas.microsoft.com/office/drawing/2014/main" id="{E6F370BA-9A01-5797-E056-596CB91A4436}"/>
                  </a:ext>
                </a:extLst>
              </p:cNvPr>
              <p:cNvSpPr/>
              <p:nvPr/>
            </p:nvSpPr>
            <p:spPr>
              <a:xfrm>
                <a:off x="4812084" y="5487193"/>
                <a:ext cx="4699000" cy="177800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000000">
                    <a:alpha val="3922"/>
                  </a:srgbClr>
                </a:outerShdw>
              </a:effectLst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Shape 40">
                <a:extLst>
                  <a:ext uri="{FF2B5EF4-FFF2-40B4-BE49-F238E27FC236}">
                    <a16:creationId xmlns:a16="http://schemas.microsoft.com/office/drawing/2014/main" id="{31292959-D366-027B-85B3-1AD58DA483DD}"/>
                  </a:ext>
                </a:extLst>
              </p:cNvPr>
              <p:cNvSpPr/>
              <p:nvPr/>
            </p:nvSpPr>
            <p:spPr>
              <a:xfrm>
                <a:off x="5040684" y="5677693"/>
                <a:ext cx="4572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06400">
                    <a:moveTo>
                      <a:pt x="228600" y="-25400"/>
                    </a:moveTo>
                    <a:cubicBezTo>
                      <a:pt x="270656" y="-25400"/>
                      <a:pt x="304800" y="8744"/>
                      <a:pt x="304800" y="50800"/>
                    </a:cubicBezTo>
                    <a:cubicBezTo>
                      <a:pt x="304800" y="92856"/>
                      <a:pt x="270656" y="127000"/>
                      <a:pt x="228600" y="127000"/>
                    </a:cubicBezTo>
                    <a:cubicBezTo>
                      <a:pt x="186544" y="127000"/>
                      <a:pt x="152400" y="92856"/>
                      <a:pt x="152400" y="50800"/>
                    </a:cubicBezTo>
                    <a:cubicBezTo>
                      <a:pt x="152400" y="8744"/>
                      <a:pt x="186544" y="-25400"/>
                      <a:pt x="228600" y="-25400"/>
                    </a:cubicBezTo>
                    <a:close/>
                    <a:moveTo>
                      <a:pt x="38100" y="241300"/>
                    </a:moveTo>
                    <a:cubicBezTo>
                      <a:pt x="38100" y="185658"/>
                      <a:pt x="75406" y="137001"/>
                      <a:pt x="131048" y="110411"/>
                    </a:cubicBezTo>
                    <a:cubicBezTo>
                      <a:pt x="151130" y="143192"/>
                      <a:pt x="187325" y="165100"/>
                      <a:pt x="228600" y="165100"/>
                    </a:cubicBezTo>
                    <a:cubicBezTo>
                      <a:pt x="272812" y="165100"/>
                      <a:pt x="311229" y="139938"/>
                      <a:pt x="330200" y="103188"/>
                    </a:cubicBezTo>
                    <a:cubicBezTo>
                      <a:pt x="342741" y="94218"/>
                      <a:pt x="358061" y="88900"/>
                      <a:pt x="374650" y="88900"/>
                    </a:cubicBezTo>
                    <a:lnTo>
                      <a:pt x="390128" y="88900"/>
                    </a:lnTo>
                    <a:cubicBezTo>
                      <a:pt x="398383" y="88900"/>
                      <a:pt x="404416" y="96679"/>
                      <a:pt x="402431" y="104696"/>
                    </a:cubicBezTo>
                    <a:lnTo>
                      <a:pt x="388858" y="158909"/>
                    </a:lnTo>
                    <a:cubicBezTo>
                      <a:pt x="396716" y="168751"/>
                      <a:pt x="403304" y="179308"/>
                      <a:pt x="408226" y="190500"/>
                    </a:cubicBezTo>
                    <a:lnTo>
                      <a:pt x="425450" y="190500"/>
                    </a:lnTo>
                    <a:cubicBezTo>
                      <a:pt x="436007" y="190500"/>
                      <a:pt x="444500" y="198993"/>
                      <a:pt x="444500" y="209550"/>
                    </a:cubicBezTo>
                    <a:lnTo>
                      <a:pt x="444500" y="298450"/>
                    </a:lnTo>
                    <a:cubicBezTo>
                      <a:pt x="444500" y="309007"/>
                      <a:pt x="436007" y="317500"/>
                      <a:pt x="425450" y="317500"/>
                    </a:cubicBezTo>
                    <a:lnTo>
                      <a:pt x="393700" y="317500"/>
                    </a:lnTo>
                    <a:cubicBezTo>
                      <a:pt x="380603" y="334963"/>
                      <a:pt x="363141" y="348933"/>
                      <a:pt x="342900" y="357743"/>
                    </a:cubicBezTo>
                    <a:lnTo>
                      <a:pt x="342900" y="381000"/>
                    </a:lnTo>
                    <a:cubicBezTo>
                      <a:pt x="342900" y="395049"/>
                      <a:pt x="331549" y="406400"/>
                      <a:pt x="317500" y="406400"/>
                    </a:cubicBezTo>
                    <a:lnTo>
                      <a:pt x="291306" y="406400"/>
                    </a:lnTo>
                    <a:cubicBezTo>
                      <a:pt x="279956" y="406400"/>
                      <a:pt x="270034" y="398859"/>
                      <a:pt x="266859" y="387985"/>
                    </a:cubicBezTo>
                    <a:lnTo>
                      <a:pt x="261223" y="368300"/>
                    </a:lnTo>
                    <a:lnTo>
                      <a:pt x="195897" y="368300"/>
                    </a:lnTo>
                    <a:lnTo>
                      <a:pt x="190262" y="387985"/>
                    </a:lnTo>
                    <a:cubicBezTo>
                      <a:pt x="187166" y="398859"/>
                      <a:pt x="177244" y="406400"/>
                      <a:pt x="165894" y="406400"/>
                    </a:cubicBezTo>
                    <a:lnTo>
                      <a:pt x="139700" y="406400"/>
                    </a:lnTo>
                    <a:cubicBezTo>
                      <a:pt x="125651" y="406400"/>
                      <a:pt x="114300" y="395049"/>
                      <a:pt x="114300" y="381000"/>
                    </a:cubicBezTo>
                    <a:lnTo>
                      <a:pt x="114300" y="357743"/>
                    </a:lnTo>
                    <a:cubicBezTo>
                      <a:pt x="69453" y="338138"/>
                      <a:pt x="38100" y="293370"/>
                      <a:pt x="38100" y="241300"/>
                    </a:cubicBezTo>
                    <a:close/>
                    <a:moveTo>
                      <a:pt x="336550" y="254000"/>
                    </a:moveTo>
                    <a:cubicBezTo>
                      <a:pt x="347064" y="254000"/>
                      <a:pt x="355600" y="245464"/>
                      <a:pt x="355600" y="234950"/>
                    </a:cubicBezTo>
                    <a:cubicBezTo>
                      <a:pt x="355600" y="224436"/>
                      <a:pt x="347064" y="215900"/>
                      <a:pt x="336550" y="215900"/>
                    </a:cubicBezTo>
                    <a:cubicBezTo>
                      <a:pt x="326036" y="215900"/>
                      <a:pt x="317500" y="224436"/>
                      <a:pt x="317500" y="234950"/>
                    </a:cubicBezTo>
                    <a:cubicBezTo>
                      <a:pt x="317500" y="245464"/>
                      <a:pt x="326036" y="254000"/>
                      <a:pt x="336550" y="254000"/>
                    </a:cubicBezTo>
                    <a:close/>
                  </a:path>
                </a:pathLst>
              </a:custGeom>
              <a:solidFill>
                <a:srgbClr val="C41E24"/>
              </a:solidFill>
              <a:ln/>
            </p:spPr>
            <p:txBody>
              <a:bodyPr/>
              <a:lstStyle/>
              <a:p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 41">
                <a:extLst>
                  <a:ext uri="{FF2B5EF4-FFF2-40B4-BE49-F238E27FC236}">
                    <a16:creationId xmlns:a16="http://schemas.microsoft.com/office/drawing/2014/main" id="{C481F09A-EB27-0C36-4F35-D2855111E258}"/>
                  </a:ext>
                </a:extLst>
              </p:cNvPr>
              <p:cNvSpPr/>
              <p:nvPr/>
            </p:nvSpPr>
            <p:spPr>
              <a:xfrm>
                <a:off x="5599484" y="5677693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050" b="1" dirty="0">
                    <a:solidFill>
                      <a:srgbClr val="1B3A5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成本优势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Text 42">
                <a:extLst>
                  <a:ext uri="{FF2B5EF4-FFF2-40B4-BE49-F238E27FC236}">
                    <a16:creationId xmlns:a16="http://schemas.microsoft.com/office/drawing/2014/main" id="{7A8C2AF3-19C9-2943-7D82-E87CAA8757E5}"/>
                  </a:ext>
                </a:extLst>
              </p:cNvPr>
              <p:cNvSpPr/>
              <p:nvPr/>
            </p:nvSpPr>
            <p:spPr>
              <a:xfrm>
                <a:off x="5066084" y="6185693"/>
                <a:ext cx="4191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050" dirty="0">
                    <a:solidFill>
                      <a:srgbClr val="1E293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iter" pitchFamily="34" charset="-120"/>
                  </a:rPr>
                  <a:t>利用现有虚拟化资源，无需采购物理设备，降低一次性投入</a:t>
                </a:r>
                <a:endPara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6" name="灯片编号占位符 3">
            <a:extLst>
              <a:ext uri="{FF2B5EF4-FFF2-40B4-BE49-F238E27FC236}">
                <a16:creationId xmlns:a16="http://schemas.microsoft.com/office/drawing/2014/main" id="{A309063F-600A-8CB3-B902-4BEC2F3B4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89318" y="4840849"/>
            <a:ext cx="511175" cy="303662"/>
          </a:xfrm>
        </p:spPr>
        <p:txBody>
          <a:bodyPr/>
          <a:lstStyle/>
          <a:p>
            <a:fld id="{012860D7-74F8-45D8-912E-A25AA711B9F0}" type="slidenum">
              <a:rPr lang="en-US" altLang="ja-JP" sz="1350" smtClean="0"/>
              <a:t>15</a:t>
            </a:fld>
            <a:endParaRPr lang="en-US" altLang="ja-JP" sz="1350" dirty="0"/>
          </a:p>
        </p:txBody>
      </p:sp>
      <p:sp>
        <p:nvSpPr>
          <p:cNvPr id="57" name="页脚占位符 4">
            <a:extLst>
              <a:ext uri="{FF2B5EF4-FFF2-40B4-BE49-F238E27FC236}">
                <a16:creationId xmlns:a16="http://schemas.microsoft.com/office/drawing/2014/main" id="{1453990C-7B5A-8DEB-3529-9D9B8948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4138" y="4865749"/>
            <a:ext cx="2648825" cy="242923"/>
          </a:xfrm>
        </p:spPr>
        <p:txBody>
          <a:bodyPr/>
          <a:lstStyle/>
          <a:p>
            <a:pPr>
              <a:defRPr/>
            </a:pPr>
            <a:r>
              <a:rPr lang="en-US" altLang="ja-JP" sz="1050" dirty="0">
                <a:latin typeface="微软雅黑" panose="020B0503020204020204" pitchFamily="34" charset="-122"/>
              </a:rPr>
              <a:t>            RORZE </a:t>
            </a:r>
            <a:r>
              <a:rPr lang="en-US" altLang="zh-CN" sz="1050" dirty="0">
                <a:latin typeface="微软雅黑" panose="020B0503020204020204" pitchFamily="34" charset="-122"/>
              </a:rPr>
              <a:t>CREATECH</a:t>
            </a:r>
            <a:r>
              <a:rPr lang="en-US" altLang="ja-JP" sz="1050" dirty="0">
                <a:latin typeface="微软雅黑" panose="020B0503020204020204" pitchFamily="34" charset="-122"/>
              </a:rPr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73157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Format RTT">
  <a:themeElements>
    <a:clrScheme name="Brooks_template_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orze KH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0" cmpd="sng" algn="ctr">
          <a:solidFill>
            <a:schemeClr val="tx1"/>
          </a:solidFill>
          <a:prstDash val="solid"/>
          <a:round/>
        </a:ln>
      </a:spPr>
      <a:bodyPr rtlCol="0" anchor="ctr">
        <a:spAutoFit/>
      </a:bodyPr>
      <a:lstStyle>
        <a:defPPr algn="ctr">
          <a:defRPr kumimoji="1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ヒラギノ角ゴ Pro W3" charset="-128"/>
          </a:defRPr>
        </a:defPPr>
      </a:lstStyle>
    </a:lnDef>
  </a:objectDefaults>
  <a:extraClrSchemeLst>
    <a:extraClrScheme>
      <a:clrScheme name="Brooks_template_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ooks_template_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ooks_template_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ooks_template_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ooks_template_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ooks_template_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ooks_template_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Settings\Katsushi Hayasaki\Application Data\Microsoft\Templates\Rorze Profile (Eng) 031212.pot</Template>
  <TotalTime>14668</TotalTime>
  <Words>3214</Words>
  <Application>Microsoft Office PowerPoint</Application>
  <PresentationFormat>全屏显示(16:9)</PresentationFormat>
  <Paragraphs>351</Paragraphs>
  <Slides>15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Univers 55</vt:lpstr>
      <vt:lpstr>Univers 65 Bold</vt:lpstr>
      <vt:lpstr>微软雅黑</vt:lpstr>
      <vt:lpstr>Arial</vt:lpstr>
      <vt:lpstr>Arial Narrow</vt:lpstr>
      <vt:lpstr>Wingdings</vt:lpstr>
      <vt:lpstr>1_Format RTT</vt:lpstr>
      <vt:lpstr>Microsoft Excel 工作表</vt:lpstr>
      <vt:lpstr>Worksheet</vt:lpstr>
      <vt:lpstr>PowerPoint 演示文稿</vt:lpstr>
      <vt:lpstr>为什么需要统一的日志审计平台？</vt:lpstr>
      <vt:lpstr>当前日志管理与ISO 27001要求的差距</vt:lpstr>
      <vt:lpstr>当前日志管理与RJ总部审计要求的差距</vt:lpstr>
      <vt:lpstr>当前公司内设备情况梳理</vt:lpstr>
      <vt:lpstr>IT人力成本优化（上）— 现状痛点</vt:lpstr>
      <vt:lpstr>IT人力成本优化（下）— 优化效果</vt:lpstr>
      <vt:lpstr>安全事故展示（下）— 内部风险</vt:lpstr>
      <vt:lpstr>安全事故展示（上）— 外部案例</vt:lpstr>
      <vt:lpstr>为什么选择安恒明御综合日志审计平台？</vt:lpstr>
      <vt:lpstr>调研竞品系统功能对比情况</vt:lpstr>
      <vt:lpstr>充分利用现有虚拟化资源，仅采购软件许可</vt:lpstr>
      <vt:lpstr>供应商报价及比价表</vt:lpstr>
      <vt:lpstr>供应商部分资质证书展示</vt:lpstr>
      <vt:lpstr>纯软件部署，周期短、成本低</vt:lpstr>
    </vt:vector>
  </TitlesOfParts>
  <Company>Overseas Business Dept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Rorze Presentation</dc:title>
  <dc:creator>Katsushi Hayasaki</dc:creator>
  <cp:lastModifiedBy>冯晨阳</cp:lastModifiedBy>
  <cp:revision>1493</cp:revision>
  <cp:lastPrinted>2017-06-08T03:00:00Z</cp:lastPrinted>
  <dcterms:created xsi:type="dcterms:W3CDTF">2003-12-12T09:27:00Z</dcterms:created>
  <dcterms:modified xsi:type="dcterms:W3CDTF">2026-06-02T14:54:58Z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